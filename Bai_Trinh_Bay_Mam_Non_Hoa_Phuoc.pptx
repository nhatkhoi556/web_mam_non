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5"/>
  </p:notesMasterIdLst>
  <p:sldIdLst>
    <p:sldId id="256" r:id="rId3"/>
    <p:sldId id="257" r:id="rId4"/>
    <p:sldId id="258" r:id="rId6"/>
    <p:sldId id="259" r:id="rId7"/>
    <p:sldId id="260" r:id="rId8"/>
    <p:sldId id="261" r:id="rId9"/>
    <p:sldId id="262" r:id="rId10"/>
    <p:sldId id="263" r:id="rId11"/>
    <p:sldId id="264" r:id="rId12"/>
  </p:sldIdLst>
  <p:sldSz cx="18288000" cy="10287000"/>
  <p:notesSz cx="6858000" cy="9144000"/>
  <p:embeddedFontLst>
    <p:embeddedFont>
      <p:font typeface="Aptos Bold" panose="020B0004020202020204"/>
      <p:bold r:id="rId16"/>
    </p:embeddedFont>
    <p:embeddedFont>
      <p:font typeface="Aptos Italics" panose="020B0004020202090204"/>
      <p:italic r:id="rId17"/>
    </p:embeddedFont>
    <p:embeddedFont>
      <p:font typeface="Calibri" panose="020F0502020204030204"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80" d="100"/>
          <a:sy n="80" d="100"/>
        </p:scale>
        <p:origin x="156" y="32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1" Type="http://schemas.openxmlformats.org/officeDocument/2006/relationships/font" Target="fonts/font6.fntdata"/><Relationship Id="rId20" Type="http://schemas.openxmlformats.org/officeDocument/2006/relationships/font" Target="fonts/font5.fntdata"/><Relationship Id="rId2" Type="http://schemas.openxmlformats.org/officeDocument/2006/relationships/theme" Target="theme/theme1.xml"/><Relationship Id="rId19" Type="http://schemas.openxmlformats.org/officeDocument/2006/relationships/font" Target="fonts/font4.fntdata"/><Relationship Id="rId18" Type="http://schemas.openxmlformats.org/officeDocument/2006/relationships/font" Target="fonts/font3.fntdata"/><Relationship Id="rId17" Type="http://schemas.openxmlformats.org/officeDocument/2006/relationships/font" Target="fonts/font2.fntdata"/><Relationship Id="rId16" Type="http://schemas.openxmlformats.org/officeDocument/2006/relationships/font" Target="fonts/font1.fntdata"/><Relationship Id="rId15" Type="http://schemas.openxmlformats.org/officeDocument/2006/relationships/tableStyles" Target="tableStyles.xml"/><Relationship Id="rId14" Type="http://schemas.openxmlformats.org/officeDocument/2006/relationships/viewProps" Target="viewProps.xml"/><Relationship Id="rId13" Type="http://schemas.openxmlformats.org/officeDocument/2006/relationships/presProps" Target="presProps.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endParaRPr lang="en-US"/>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endParaRPr lang="cs-CZ"/>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6"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7.xml"/><Relationship Id="rId1"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6245707"/>
            <a:ext cx="16230600" cy="3012805"/>
          </a:xfrm>
          <a:custGeom>
            <a:avLst/>
            <a:gdLst/>
            <a:ahLst/>
            <a:cxnLst/>
            <a:rect l="l" t="t" r="r" b="b"/>
            <a:pathLst>
              <a:path w="16230600" h="3012805">
                <a:moveTo>
                  <a:pt x="0" y="0"/>
                </a:moveTo>
                <a:lnTo>
                  <a:pt x="16230600" y="0"/>
                </a:lnTo>
                <a:lnTo>
                  <a:pt x="16230600" y="3012806"/>
                </a:lnTo>
                <a:lnTo>
                  <a:pt x="0" y="3012806"/>
                </a:lnTo>
                <a:lnTo>
                  <a:pt x="0" y="0"/>
                </a:lnTo>
                <a:close/>
              </a:path>
            </a:pathLst>
          </a:custGeom>
          <a:blipFill>
            <a:blip r:embed="rId1"/>
            <a:stretch>
              <a:fillRect/>
            </a:stretch>
          </a:blipFill>
        </p:spPr>
        <p:txBody>
          <a:bodyPr/>
          <a:lstStyle/>
          <a:p>
            <a:endParaRPr lang="en-AU"/>
          </a:p>
        </p:txBody>
      </p:sp>
      <p:grpSp>
        <p:nvGrpSpPr>
          <p:cNvPr id="3" name="Group 3"/>
          <p:cNvGrpSpPr/>
          <p:nvPr/>
        </p:nvGrpSpPr>
        <p:grpSpPr>
          <a:xfrm>
            <a:off x="4396352" y="6624086"/>
            <a:ext cx="2826394" cy="2255836"/>
            <a:chOff x="0" y="0"/>
            <a:chExt cx="3768525" cy="3007781"/>
          </a:xfrm>
        </p:grpSpPr>
        <p:sp>
          <p:nvSpPr>
            <p:cNvPr id="4" name="TextBox 4"/>
            <p:cNvSpPr txBox="1"/>
            <p:nvPr/>
          </p:nvSpPr>
          <p:spPr>
            <a:xfrm>
              <a:off x="0" y="0"/>
              <a:ext cx="3768525" cy="435073"/>
            </a:xfrm>
            <a:prstGeom prst="rect">
              <a:avLst/>
            </a:prstGeom>
          </p:spPr>
          <p:txBody>
            <a:bodyPr lIns="0" tIns="0" rIns="0" bIns="0" rtlCol="0" anchor="t">
              <a:spAutoFit/>
            </a:bodyPr>
            <a:lstStyle/>
            <a:p>
              <a:pPr algn="l">
                <a:lnSpc>
                  <a:spcPts val="2590"/>
                </a:lnSpc>
              </a:pPr>
              <a:r>
                <a:rPr lang="en-US" sz="2155" b="1" spc="79">
                  <a:solidFill>
                    <a:srgbClr val="FFFFFF"/>
                  </a:solidFill>
                  <a:latin typeface="Museo RMIT VN Bold" panose="02000000000000000000"/>
                  <a:ea typeface="Museo RMIT VN Bold" panose="02000000000000000000"/>
                  <a:cs typeface="Museo RMIT VN Bold" panose="02000000000000000000"/>
                  <a:sym typeface="Museo RMIT VN Bold" panose="02000000000000000000"/>
                </a:rPr>
                <a:t>Giáo viên thực hiện</a:t>
              </a:r>
              <a:endParaRPr lang="en-US" sz="2155" b="1" spc="79">
                <a:solidFill>
                  <a:srgbClr val="FFFFFF"/>
                </a:solidFill>
                <a:latin typeface="Museo RMIT VN Bold" panose="02000000000000000000"/>
                <a:ea typeface="Museo RMIT VN Bold" panose="02000000000000000000"/>
                <a:cs typeface="Museo RMIT VN Bold" panose="02000000000000000000"/>
                <a:sym typeface="Museo RMIT VN Bold" panose="02000000000000000000"/>
              </a:endParaRPr>
            </a:p>
          </p:txBody>
        </p:sp>
        <p:sp>
          <p:nvSpPr>
            <p:cNvPr id="5" name="TextBox 5"/>
            <p:cNvSpPr txBox="1"/>
            <p:nvPr/>
          </p:nvSpPr>
          <p:spPr>
            <a:xfrm>
              <a:off x="246968" y="2572708"/>
              <a:ext cx="5200000" cy="435073"/>
            </a:xfrm>
            <a:prstGeom prst="rect">
              <a:avLst/>
            </a:prstGeom>
          </p:spPr>
          <p:txBody>
            <a:bodyPr lIns="0" tIns="0" rIns="0" bIns="0" rtlCol="0" anchor="t">
              <a:spAutoFit/>
            </a:bodyPr>
            <a:lstStyle/>
            <a:p>
              <a:pPr algn="l">
                <a:lnSpc>
                  <a:spcPts val="2590"/>
                </a:lnSpc>
              </a:pPr>
              <a:r>
                <a:rPr lang="vi-VN" sz="2155" b="1">
                  <a:solidFill>
                    <a:srgbClr val="FFEA00"/>
                  </a:solidFill>
                  <a:latin typeface="Aptos Bold" panose="020B0004020202020204"/>
                  <a:ea typeface="Aptos Bold" panose="020B0004020202020204"/>
                  <a:cs typeface="Aptos Bold" panose="020B0004020202020204"/>
                  <a:sym typeface="Aptos Bold" panose="020B0004020202020204"/>
                </a:rPr>
                <a:t>Giáo viên Trường MN Hòa Phước</a:t>
              </a:r>
              <a:endParaRPr lang="vi-VN" sz="2155" b="1">
                <a:solidFill>
                  <a:srgbClr val="FFEA00"/>
                </a:solidFill>
                <a:latin typeface="Aptos Bold" panose="020B0004020202020204"/>
                <a:ea typeface="Aptos Bold" panose="020B0004020202020204"/>
                <a:cs typeface="Aptos Bold" panose="020B0004020202020204"/>
                <a:sym typeface="Aptos Bold" panose="020B0004020202020204"/>
              </a:endParaRPr>
            </a:p>
          </p:txBody>
        </p:sp>
        <p:grpSp>
          <p:nvGrpSpPr>
            <p:cNvPr id="6" name="Group 6"/>
            <p:cNvGrpSpPr/>
            <p:nvPr/>
          </p:nvGrpSpPr>
          <p:grpSpPr>
            <a:xfrm>
              <a:off x="853486" y="531293"/>
              <a:ext cx="1809385" cy="1726990"/>
              <a:chOff x="0" y="0"/>
              <a:chExt cx="4139128" cy="3950641"/>
            </a:xfrm>
          </p:grpSpPr>
          <p:sp>
            <p:nvSpPr>
              <p:cNvPr id="7" name="Freeform 7"/>
              <p:cNvSpPr/>
              <p:nvPr/>
            </p:nvSpPr>
            <p:spPr>
              <a:xfrm>
                <a:off x="88503" y="3155"/>
                <a:ext cx="3961876" cy="3944279"/>
              </a:xfrm>
              <a:custGeom>
                <a:avLst/>
                <a:gdLst/>
                <a:ahLst/>
                <a:cxnLst/>
                <a:rect l="l" t="t" r="r" b="b"/>
                <a:pathLst>
                  <a:path w="3961876" h="3944279">
                    <a:moveTo>
                      <a:pt x="1981089" y="20"/>
                    </a:moveTo>
                    <a:cubicBezTo>
                      <a:pt x="1274334" y="-3155"/>
                      <a:pt x="620030" y="372003"/>
                      <a:pt x="265700" y="983508"/>
                    </a:cubicBezTo>
                    <a:cubicBezTo>
                      <a:pt x="-88630" y="1595013"/>
                      <a:pt x="-88503" y="2349266"/>
                      <a:pt x="265700" y="2960771"/>
                    </a:cubicBezTo>
                    <a:cubicBezTo>
                      <a:pt x="619903" y="3572276"/>
                      <a:pt x="1274334" y="3947434"/>
                      <a:pt x="1980962" y="3944259"/>
                    </a:cubicBezTo>
                    <a:cubicBezTo>
                      <a:pt x="2687590" y="3947434"/>
                      <a:pt x="3342021" y="3572276"/>
                      <a:pt x="3696224" y="2960771"/>
                    </a:cubicBezTo>
                    <a:cubicBezTo>
                      <a:pt x="4050427" y="2349266"/>
                      <a:pt x="4050427" y="1595013"/>
                      <a:pt x="3696224" y="983508"/>
                    </a:cubicBezTo>
                    <a:cubicBezTo>
                      <a:pt x="3342021" y="372003"/>
                      <a:pt x="2687717" y="-3155"/>
                      <a:pt x="1981089" y="20"/>
                    </a:cubicBezTo>
                    <a:close/>
                  </a:path>
                </a:pathLst>
              </a:custGeom>
              <a:blipFill>
                <a:blip r:embed="rId2"/>
                <a:stretch>
                  <a:fillRect t="-8483" b="-8483"/>
                </a:stretch>
              </a:blipFill>
              <a:ln cap="sq">
                <a:noFill/>
                <a:prstDash val="solid"/>
                <a:miter/>
              </a:ln>
            </p:spPr>
            <p:txBody>
              <a:bodyPr/>
              <a:lstStyle/>
              <a:p>
                <a:endParaRPr lang="en-AU"/>
              </a:p>
            </p:txBody>
          </p:sp>
        </p:grpSp>
      </p:grpSp>
      <p:sp>
        <p:nvSpPr>
          <p:cNvPr id="8" name="Freeform 8"/>
          <p:cNvSpPr/>
          <p:nvPr/>
        </p:nvSpPr>
        <p:spPr>
          <a:xfrm>
            <a:off x="589229" y="5696988"/>
            <a:ext cx="1654581" cy="1854195"/>
          </a:xfrm>
          <a:custGeom>
            <a:avLst/>
            <a:gdLst/>
            <a:ahLst/>
            <a:cxnLst/>
            <a:rect l="l" t="t" r="r" b="b"/>
            <a:pathLst>
              <a:path w="1654581" h="1854195">
                <a:moveTo>
                  <a:pt x="0" y="0"/>
                </a:moveTo>
                <a:lnTo>
                  <a:pt x="1654581" y="0"/>
                </a:lnTo>
                <a:lnTo>
                  <a:pt x="1654581" y="1854195"/>
                </a:lnTo>
                <a:lnTo>
                  <a:pt x="0" y="1854195"/>
                </a:lnTo>
                <a:lnTo>
                  <a:pt x="0" y="0"/>
                </a:lnTo>
                <a:close/>
              </a:path>
            </a:pathLst>
          </a:custGeom>
          <a:blipFill>
            <a:blip r:embed="rId3"/>
            <a:stretch>
              <a:fillRect/>
            </a:stretch>
          </a:blipFill>
        </p:spPr>
        <p:txBody>
          <a:bodyPr/>
          <a:lstStyle/>
          <a:p>
            <a:endParaRPr lang="en-AU"/>
          </a:p>
        </p:txBody>
      </p:sp>
      <p:sp>
        <p:nvSpPr>
          <p:cNvPr id="9" name="Freeform 9"/>
          <p:cNvSpPr/>
          <p:nvPr/>
        </p:nvSpPr>
        <p:spPr>
          <a:xfrm>
            <a:off x="0" y="0"/>
            <a:ext cx="18288000" cy="2880360"/>
          </a:xfrm>
          <a:custGeom>
            <a:avLst/>
            <a:gdLst/>
            <a:ahLst/>
            <a:cxnLst/>
            <a:rect l="l" t="t" r="r" b="b"/>
            <a:pathLst>
              <a:path w="18288000" h="2880360">
                <a:moveTo>
                  <a:pt x="0" y="0"/>
                </a:moveTo>
                <a:lnTo>
                  <a:pt x="18288000" y="0"/>
                </a:lnTo>
                <a:lnTo>
                  <a:pt x="18288000" y="2880360"/>
                </a:lnTo>
                <a:lnTo>
                  <a:pt x="0" y="2880360"/>
                </a:lnTo>
                <a:lnTo>
                  <a:pt x="0" y="0"/>
                </a:lnTo>
                <a:close/>
              </a:path>
            </a:pathLst>
          </a:custGeom>
          <a:blipFill>
            <a:blip r:embed="rId4"/>
            <a:stretch>
              <a:fillRect/>
            </a:stretch>
          </a:blipFill>
        </p:spPr>
        <p:txBody>
          <a:bodyPr/>
          <a:lstStyle/>
          <a:p>
            <a:endParaRPr lang="en-AU"/>
          </a:p>
        </p:txBody>
      </p:sp>
      <p:sp>
        <p:nvSpPr>
          <p:cNvPr id="10" name="Freeform 10"/>
          <p:cNvSpPr/>
          <p:nvPr/>
        </p:nvSpPr>
        <p:spPr>
          <a:xfrm>
            <a:off x="0" y="0"/>
            <a:ext cx="18288000" cy="2880360"/>
          </a:xfrm>
          <a:custGeom>
            <a:avLst/>
            <a:gdLst/>
            <a:ahLst/>
            <a:cxnLst/>
            <a:rect l="l" t="t" r="r" b="b"/>
            <a:pathLst>
              <a:path w="18288000" h="2880360">
                <a:moveTo>
                  <a:pt x="0" y="0"/>
                </a:moveTo>
                <a:lnTo>
                  <a:pt x="18288000" y="0"/>
                </a:lnTo>
                <a:lnTo>
                  <a:pt x="18288000" y="2880360"/>
                </a:lnTo>
                <a:lnTo>
                  <a:pt x="0" y="2880360"/>
                </a:lnTo>
                <a:lnTo>
                  <a:pt x="0" y="0"/>
                </a:lnTo>
                <a:close/>
              </a:path>
            </a:pathLst>
          </a:custGeom>
          <a:blipFill>
            <a:blip r:embed="rId5"/>
            <a:stretch>
              <a:fillRect/>
            </a:stretch>
          </a:blipFill>
        </p:spPr>
        <p:txBody>
          <a:bodyPr/>
          <a:lstStyle/>
          <a:p>
            <a:endParaRPr lang="en-AU"/>
          </a:p>
        </p:txBody>
      </p:sp>
      <p:sp>
        <p:nvSpPr>
          <p:cNvPr id="11" name="TextBox 11"/>
          <p:cNvSpPr txBox="1"/>
          <p:nvPr/>
        </p:nvSpPr>
        <p:spPr>
          <a:xfrm>
            <a:off x="1028700" y="3750000"/>
            <a:ext cx="16230600" cy="1025525"/>
          </a:xfrm>
          <a:prstGeom prst="rect">
            <a:avLst/>
          </a:prstGeom>
        </p:spPr>
        <p:txBody>
          <a:bodyPr lIns="0" tIns="0" rIns="0" bIns="0" rtlCol="0" anchor="t">
            <a:spAutoFit/>
          </a:bodyPr>
          <a:lstStyle/>
          <a:p>
            <a:pPr algn="ctr">
              <a:lnSpc>
                <a:spcPts val="4600"/>
              </a:lnSpc>
            </a:pPr>
            <a:r>
              <a:rPr lang="en-US" altLang="vi-VN" sz="4000" b="1">
                <a:solidFill>
                  <a:srgbClr val="000054"/>
                </a:solidFill>
                <a:latin typeface="Aptos Bold" panose="020B0004020202020204"/>
                <a:ea typeface="Aptos Bold" panose="020B0004020202020204"/>
                <a:cs typeface="Aptos Bold" panose="020B0004020202020204"/>
                <a:sym typeface="Aptos Bold" panose="020B0004020202020204"/>
              </a:rPr>
              <a:t>Website trò chơi và soạn thảo giáo án</a:t>
            </a:r>
            <a:endParaRPr lang="vi-VN" sz="4000" b="1">
              <a:solidFill>
                <a:srgbClr val="000054"/>
              </a:solidFill>
              <a:latin typeface="Aptos Bold" panose="020B0004020202020204"/>
              <a:ea typeface="Aptos Bold" panose="020B0004020202020204"/>
              <a:cs typeface="Aptos Bold" panose="020B0004020202020204"/>
              <a:sym typeface="Aptos Bold" panose="020B0004020202020204"/>
            </a:endParaRPr>
          </a:p>
          <a:p>
            <a:pPr algn="ctr">
              <a:lnSpc>
                <a:spcPts val="3400"/>
              </a:lnSpc>
            </a:pPr>
            <a:r>
              <a:rPr lang="vi-VN" sz="2500" b="1">
                <a:solidFill>
                  <a:srgbClr val="E61E2A"/>
                </a:solidFill>
                <a:latin typeface="Aptos Bold" panose="020B0004020202020204"/>
                <a:ea typeface="Aptos Bold" panose="020B0004020202020204"/>
                <a:cs typeface="Aptos Bold" panose="020B0004020202020204"/>
                <a:sym typeface="Aptos Bold" panose="020B0004020202020204"/>
              </a:rPr>
              <a:t>NỀN TẢNG THIẾT KẾ HỌC LIỆU TƯƠNG TÁC &amp; GIÁO ÁN SỐ ỨNG DỤNG AI</a:t>
            </a:r>
            <a:endParaRPr lang="vi-VN" sz="2500" b="1">
              <a:solidFill>
                <a:srgbClr val="E61E2A"/>
              </a:solidFill>
              <a:latin typeface="Aptos Bold" panose="020B0004020202020204"/>
              <a:ea typeface="Aptos Bold" panose="020B0004020202020204"/>
              <a:cs typeface="Aptos Bold" panose="020B0004020202020204"/>
              <a:sym typeface="Aptos Bold" panose="020B0004020202020204"/>
            </a:endParaRPr>
          </a:p>
        </p:txBody>
      </p:sp>
      <p:sp>
        <p:nvSpPr>
          <p:cNvPr id="12" name="TextBox 12"/>
          <p:cNvSpPr txBox="1"/>
          <p:nvPr/>
        </p:nvSpPr>
        <p:spPr>
          <a:xfrm>
            <a:off x="8395088" y="6718687"/>
            <a:ext cx="7229682" cy="971550"/>
          </a:xfrm>
          <a:prstGeom prst="rect">
            <a:avLst/>
          </a:prstGeom>
        </p:spPr>
        <p:txBody>
          <a:bodyPr lIns="0" tIns="0" rIns="0" bIns="0" rtlCol="0" anchor="t">
            <a:spAutoFit/>
          </a:bodyPr>
          <a:lstStyle/>
          <a:p>
            <a:pPr algn="l">
              <a:lnSpc>
                <a:spcPts val="3000"/>
              </a:lnSpc>
            </a:pPr>
            <a:r>
              <a:rPr lang="vi-VN" sz="2500" b="1">
                <a:solidFill>
                  <a:srgbClr val="FFFFFF"/>
                </a:solidFill>
                <a:latin typeface="Aptos Bold" panose="020B0004020202020204"/>
                <a:ea typeface="Aptos Bold" panose="020B0004020202020204"/>
                <a:cs typeface="Aptos Bold" panose="020B0004020202020204"/>
                <a:sym typeface="Aptos Bold" panose="020B0004020202020204"/>
              </a:rPr>
              <a:t>Đơn vị công tác:</a:t>
            </a:r>
            <a:endParaRPr lang="vi-VN" sz="2500" b="1">
              <a:solidFill>
                <a:srgbClr val="FFFFFF"/>
              </a:solidFill>
              <a:latin typeface="Aptos Bold" panose="020B0004020202020204"/>
              <a:ea typeface="Aptos Bold" panose="020B0004020202020204"/>
              <a:cs typeface="Aptos Bold" panose="020B0004020202020204"/>
              <a:sym typeface="Aptos Bold" panose="020B0004020202020204"/>
            </a:endParaRPr>
          </a:p>
          <a:p>
            <a:pPr algn="l">
              <a:lnSpc>
                <a:spcPts val="2400"/>
              </a:lnSpc>
            </a:pPr>
            <a:r>
              <a:rPr lang="vi-VN" sz="2000">
                <a:solidFill>
                  <a:srgbClr val="FFFFFF"/>
                </a:solidFill>
                <a:latin typeface="Aptos"/>
                <a:ea typeface="Aptos"/>
                <a:cs typeface="Aptos"/>
                <a:sym typeface="Aptos"/>
              </a:rPr>
              <a:t>Trường Mầm Non Hòa Phước</a:t>
            </a:r>
            <a:endParaRPr lang="vi-VN" sz="2000">
              <a:solidFill>
                <a:srgbClr val="FFFFFF"/>
              </a:solidFill>
              <a:latin typeface="Aptos"/>
              <a:ea typeface="Aptos"/>
              <a:cs typeface="Aptos"/>
              <a:sym typeface="Aptos"/>
            </a:endParaRPr>
          </a:p>
          <a:p>
            <a:pPr algn="l">
              <a:lnSpc>
                <a:spcPts val="2400"/>
              </a:lnSpc>
            </a:pPr>
            <a:r>
              <a:rPr lang="vi-VN" sz="2000">
                <a:solidFill>
                  <a:srgbClr val="FFFFFF"/>
                </a:solidFill>
                <a:latin typeface="Aptos"/>
                <a:ea typeface="Aptos"/>
                <a:cs typeface="Aptos"/>
                <a:sym typeface="Aptos"/>
              </a:rPr>
              <a:t>Xã Hòa Phước, Huyện Hòa Vang, TP. Đà Nẵng</a:t>
            </a:r>
            <a:endParaRPr lang="vi-VN" sz="2000">
              <a:solidFill>
                <a:srgbClr val="FFFFFF"/>
              </a:solidFill>
              <a:latin typeface="Aptos"/>
              <a:ea typeface="Aptos"/>
              <a:cs typeface="Aptos"/>
              <a:sym typeface="Aptos"/>
            </a:endParaRPr>
          </a:p>
        </p:txBody>
      </p:sp>
      <p:sp>
        <p:nvSpPr>
          <p:cNvPr id="13" name="TextBox 13"/>
          <p:cNvSpPr txBox="1"/>
          <p:nvPr/>
        </p:nvSpPr>
        <p:spPr>
          <a:xfrm>
            <a:off x="8395088" y="8021732"/>
            <a:ext cx="8200000" cy="666750"/>
          </a:xfrm>
          <a:prstGeom prst="rect">
            <a:avLst/>
          </a:prstGeom>
        </p:spPr>
        <p:txBody>
          <a:bodyPr lIns="0" tIns="0" rIns="0" bIns="0" rtlCol="0" anchor="t">
            <a:spAutoFit/>
          </a:bodyPr>
          <a:lstStyle/>
          <a:p>
            <a:pPr algn="l">
              <a:lnSpc>
                <a:spcPts val="3000"/>
              </a:lnSpc>
            </a:pPr>
            <a:r>
              <a:rPr lang="vi-VN" sz="2500" b="1">
                <a:solidFill>
                  <a:srgbClr val="FFFFFF"/>
                </a:solidFill>
                <a:latin typeface="Aptos Bold" panose="020B0004020202020204"/>
                <a:ea typeface="Aptos Bold" panose="020B0004020202020204"/>
                <a:cs typeface="Aptos Bold" panose="020B0004020202020204"/>
                <a:sym typeface="Aptos Bold" panose="020B0004020202020204"/>
              </a:rPr>
              <a:t>Nền tảng triển khai:</a:t>
            </a:r>
            <a:endParaRPr lang="vi-VN" sz="2500" b="1">
              <a:solidFill>
                <a:srgbClr val="FFFFFF"/>
              </a:solidFill>
              <a:latin typeface="Aptos Bold" panose="020B0004020202020204"/>
              <a:ea typeface="Aptos Bold" panose="020B0004020202020204"/>
              <a:cs typeface="Aptos Bold" panose="020B0004020202020204"/>
              <a:sym typeface="Aptos Bold" panose="020B0004020202020204"/>
            </a:endParaRPr>
          </a:p>
          <a:p>
            <a:pPr algn="l">
              <a:lnSpc>
                <a:spcPts val="2400"/>
              </a:lnSpc>
            </a:pPr>
            <a:r>
              <a:rPr lang="vi-VN" sz="2000">
                <a:solidFill>
                  <a:srgbClr val="FFEA00"/>
                </a:solidFill>
                <a:latin typeface="Aptos"/>
                <a:ea typeface="Aptos"/>
                <a:cs typeface="Aptos"/>
                <a:sym typeface="Aptos"/>
              </a:rPr>
              <a:t>Web App trực tuyến trên Netlify &amp; Bản HTML Offline</a:t>
            </a:r>
            <a:endParaRPr lang="vi-VN" sz="2000">
              <a:solidFill>
                <a:srgbClr val="FFEA00"/>
              </a:solidFill>
              <a:latin typeface="Aptos"/>
              <a:ea typeface="Aptos"/>
              <a:cs typeface="Aptos"/>
              <a:sym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3" name="Freeform 3"/>
          <p:cNvSpPr/>
          <p:nvPr/>
        </p:nvSpPr>
        <p:spPr>
          <a:xfrm>
            <a:off x="0" y="0"/>
            <a:ext cx="9144000" cy="10287000"/>
          </a:xfrm>
          <a:custGeom>
            <a:avLst/>
            <a:gdLst/>
            <a:ahLst/>
            <a:cxnLst/>
            <a:rect l="l" t="t" r="r" b="b"/>
            <a:pathLst>
              <a:path w="9144000" h="10287000">
                <a:moveTo>
                  <a:pt x="0" y="0"/>
                </a:moveTo>
                <a:lnTo>
                  <a:pt x="9144000" y="0"/>
                </a:lnTo>
                <a:lnTo>
                  <a:pt x="9144000" y="10287000"/>
                </a:lnTo>
                <a:lnTo>
                  <a:pt x="0" y="10287000"/>
                </a:lnTo>
                <a:lnTo>
                  <a:pt x="0" y="0"/>
                </a:lnTo>
                <a:close/>
              </a:path>
            </a:pathLst>
          </a:custGeom>
          <a:blipFill>
            <a:blip r:embed="rId1"/>
            <a:stretch>
              <a:fillRect r="-100000"/>
            </a:stretch>
          </a:blipFill>
        </p:spPr>
        <p:txBody>
          <a:bodyPr/>
          <a:lstStyle/>
          <a:p>
            <a:endParaRPr lang="en-AU"/>
          </a:p>
        </p:txBody>
      </p:sp>
      <p:grpSp>
        <p:nvGrpSpPr>
          <p:cNvPr id="4" name="Group 4"/>
          <p:cNvGrpSpPr/>
          <p:nvPr/>
        </p:nvGrpSpPr>
        <p:grpSpPr>
          <a:xfrm>
            <a:off x="1028700" y="1028700"/>
            <a:ext cx="6952685" cy="8153400"/>
            <a:chOff x="0" y="0"/>
            <a:chExt cx="1831160" cy="2147398"/>
          </a:xfrm>
        </p:grpSpPr>
        <p:sp>
          <p:nvSpPr>
            <p:cNvPr id="5" name="Freeform 5"/>
            <p:cNvSpPr/>
            <p:nvPr/>
          </p:nvSpPr>
          <p:spPr>
            <a:xfrm>
              <a:off x="0" y="0"/>
              <a:ext cx="1831160" cy="2147398"/>
            </a:xfrm>
            <a:custGeom>
              <a:avLst/>
              <a:gdLst/>
              <a:ahLst/>
              <a:cxnLst/>
              <a:rect l="l" t="t" r="r" b="b"/>
              <a:pathLst>
                <a:path w="1831160" h="2147398">
                  <a:moveTo>
                    <a:pt x="0" y="0"/>
                  </a:moveTo>
                  <a:lnTo>
                    <a:pt x="1831160" y="0"/>
                  </a:lnTo>
                  <a:lnTo>
                    <a:pt x="1831160" y="2147398"/>
                  </a:lnTo>
                  <a:lnTo>
                    <a:pt x="0" y="2147398"/>
                  </a:lnTo>
                  <a:close/>
                </a:path>
              </a:pathLst>
            </a:custGeom>
            <a:solidFill>
              <a:srgbClr val="FFFFFF"/>
            </a:solidFill>
          </p:spPr>
          <p:txBody>
            <a:bodyPr/>
            <a:lstStyle/>
            <a:p>
              <a:endParaRPr lang="en-AU"/>
            </a:p>
          </p:txBody>
        </p:sp>
        <p:sp>
          <p:nvSpPr>
            <p:cNvPr id="6" name="TextBox 6"/>
            <p:cNvSpPr txBox="1"/>
            <p:nvPr/>
          </p:nvSpPr>
          <p:spPr>
            <a:xfrm>
              <a:off x="0" y="66675"/>
              <a:ext cx="1831160" cy="2080723"/>
            </a:xfrm>
            <a:prstGeom prst="rect">
              <a:avLst/>
            </a:prstGeom>
          </p:spPr>
          <p:txBody>
            <a:bodyPr lIns="50800" tIns="50800" rIns="50800" bIns="50800" rtlCol="0" anchor="ctr"/>
            <a:lstStyle/>
            <a:p>
              <a:pPr algn="ctr">
                <a:lnSpc>
                  <a:spcPts val="2455"/>
                </a:lnSpc>
              </a:pPr>
            </a:p>
          </p:txBody>
        </p:sp>
      </p:grpSp>
      <p:sp>
        <p:nvSpPr>
          <p:cNvPr id="7" name="TextBox 7"/>
          <p:cNvSpPr txBox="1"/>
          <p:nvPr/>
        </p:nvSpPr>
        <p:spPr>
          <a:xfrm>
            <a:off x="9976477" y="895350"/>
            <a:ext cx="7606673" cy="810962"/>
          </a:xfrm>
          <a:prstGeom prst="rect">
            <a:avLst/>
          </a:prstGeom>
        </p:spPr>
        <p:txBody>
          <a:bodyPr lIns="0" tIns="0" rIns="0" bIns="0" rtlCol="0" anchor="t">
            <a:spAutoFit/>
          </a:bodyPr>
          <a:lstStyle/>
          <a:p>
            <a:pPr marL="0" lvl="0" indent="0" algn="l">
              <a:lnSpc>
                <a:spcPts val="6860"/>
              </a:lnSpc>
              <a:spcBef>
                <a:spcPct val="0"/>
              </a:spcBef>
            </a:pPr>
            <a:r>
              <a:rPr lang="en-US" sz="4475" b="1" spc="-223">
                <a:solidFill>
                  <a:srgbClr val="000054"/>
                </a:solidFill>
                <a:latin typeface="Aptos Bold" panose="020B0004020202020204"/>
                <a:ea typeface="Aptos Bold" panose="020B0004020202020204"/>
                <a:cs typeface="Aptos Bold" panose="020B0004020202020204"/>
                <a:sym typeface="Aptos Bold" panose="020B0004020202020204"/>
              </a:rPr>
              <a:t>DÀN Ý SLIDE</a:t>
            </a:r>
            <a:endParaRPr lang="en-US" sz="4475" b="1" spc="-223">
              <a:solidFill>
                <a:srgbClr val="000054"/>
              </a:solidFill>
              <a:latin typeface="Aptos Bold" panose="020B0004020202020204"/>
              <a:ea typeface="Aptos Bold" panose="020B0004020202020204"/>
              <a:cs typeface="Aptos Bold" panose="020B0004020202020204"/>
              <a:sym typeface="Aptos Bold" panose="020B0004020202020204"/>
            </a:endParaRPr>
          </a:p>
        </p:txBody>
      </p:sp>
      <p:sp>
        <p:nvSpPr>
          <p:cNvPr id="8" name="TextBox 8"/>
          <p:cNvSpPr txBox="1"/>
          <p:nvPr/>
        </p:nvSpPr>
        <p:spPr>
          <a:xfrm>
            <a:off x="10693948" y="9428646"/>
            <a:ext cx="6889202" cy="627420"/>
          </a:xfrm>
          <a:prstGeom prst="rect">
            <a:avLst/>
          </a:prstGeom>
        </p:spPr>
        <p:txBody>
          <a:bodyPr lIns="0" tIns="0" rIns="0" bIns="0" rtlCol="0" anchor="t">
            <a:spAutoFit/>
          </a:bodyPr>
          <a:lstStyle/>
          <a:p>
            <a:pPr algn="l">
              <a:lnSpc>
                <a:spcPts val="2455"/>
              </a:lnSpc>
            </a:pPr>
            <a:r>
              <a:rPr lang="en-US" sz="2600" b="1" spc="96">
                <a:solidFill>
                  <a:srgbClr val="000054"/>
                </a:solidFill>
                <a:latin typeface="Aptos Bold" panose="020B0004020202020204"/>
                <a:ea typeface="Aptos Bold" panose="020B0004020202020204"/>
                <a:cs typeface="Aptos Bold" panose="020B0004020202020204"/>
                <a:sym typeface="Aptos Bold" panose="020B0004020202020204"/>
              </a:rPr>
              <a:t>Giải Thưởng Tiên Phong Ứng Dụng AI Trong Giáo Dục Việt Nam 2026</a:t>
            </a:r>
            <a:endParaRPr lang="en-US" sz="2600" b="1" spc="96">
              <a:solidFill>
                <a:srgbClr val="000054"/>
              </a:solidFill>
              <a:latin typeface="Aptos Bold" panose="020B0004020202020204"/>
              <a:ea typeface="Aptos Bold" panose="020B0004020202020204"/>
              <a:cs typeface="Aptos Bold" panose="020B0004020202020204"/>
              <a:sym typeface="Aptos Bold" panose="020B0004020202020204"/>
            </a:endParaRPr>
          </a:p>
        </p:txBody>
      </p:sp>
      <p:sp>
        <p:nvSpPr>
          <p:cNvPr id="9" name="TextBox 9"/>
          <p:cNvSpPr txBox="1"/>
          <p:nvPr/>
        </p:nvSpPr>
        <p:spPr>
          <a:xfrm>
            <a:off x="9302422" y="1856514"/>
            <a:ext cx="8200000" cy="7000000"/>
          </a:xfrm>
          <a:prstGeom prst="rect">
            <a:avLst/>
          </a:prstGeom>
        </p:spPr>
        <p:txBody>
          <a:bodyPr lIns="0" tIns="0" rIns="0" bIns="0" rtlCol="0" anchor="t">
            <a:spAutoFit/>
          </a:bodyPr>
          <a:lstStyle/>
          <a:p>
            <a:pPr marL="653415" lvl="1" indent="-327025" algn="l">
              <a:lnSpc>
                <a:spcPts val="3500"/>
              </a:lnSpc>
              <a:spcBef>
                <a:spcPts val="550"/>
              </a:spcBef>
              <a:buFont typeface="Arial" panose="020B0604020202020204"/>
              <a:buChar char="•"/>
            </a:pPr>
            <a:r>
              <a:rPr lang="vi-VN" sz="2300" b="1">
                <a:solidFill>
                  <a:srgbClr val="000054"/>
                </a:solidFill>
                <a:latin typeface="Aptos Bold" panose="020B0004020202020204"/>
                <a:ea typeface="Aptos Bold" panose="020B0004020202020204"/>
                <a:cs typeface="Aptos Bold" panose="020B0004020202020204"/>
                <a:sym typeface="Aptos Bold" panose="020B0004020202020204"/>
              </a:rPr>
              <a:t>1. Bối cảnh &amp; Vấn đề:</a:t>
            </a:r>
            <a:r>
              <a:rPr lang="vi-VN" sz="2300">
                <a:solidFill>
                  <a:srgbClr val="000054"/>
                </a:solidFill>
                <a:latin typeface="Aptos"/>
                <a:ea typeface="Aptos"/>
                <a:cs typeface="Aptos"/>
                <a:sym typeface="Aptos"/>
              </a:rPr>
              <a:t> Khó khăn thực tế khi thiết kế học liệu tương tác &amp; giáo án mầm non</a:t>
            </a:r>
            <a:endParaRPr lang="vi-VN" sz="2300">
              <a:solidFill>
                <a:srgbClr val="000054"/>
              </a:solidFill>
              <a:latin typeface="Aptos"/>
              <a:ea typeface="Aptos"/>
              <a:cs typeface="Aptos"/>
              <a:sym typeface="Aptos"/>
            </a:endParaRPr>
          </a:p>
          <a:p>
            <a:pPr marL="653415" lvl="1" indent="-327025" algn="l">
              <a:lnSpc>
                <a:spcPts val="3500"/>
              </a:lnSpc>
              <a:spcBef>
                <a:spcPts val="550"/>
              </a:spcBef>
              <a:buFont typeface="Arial" panose="020B0604020202020204"/>
              <a:buChar char="•"/>
            </a:pPr>
            <a:r>
              <a:rPr lang="vi-VN" sz="2300" b="1">
                <a:solidFill>
                  <a:srgbClr val="000054"/>
                </a:solidFill>
                <a:latin typeface="Aptos Bold" panose="020B0004020202020204"/>
                <a:ea typeface="Aptos Bold" panose="020B0004020202020204"/>
                <a:cs typeface="Aptos Bold" panose="020B0004020202020204"/>
                <a:sym typeface="Aptos Bold" panose="020B0004020202020204"/>
              </a:rPr>
              <a:t>2. Ý tưởng &amp; Giải pháp AI:</a:t>
            </a:r>
            <a:r>
              <a:rPr lang="vi-VN" sz="2300">
                <a:solidFill>
                  <a:srgbClr val="000054"/>
                </a:solidFill>
                <a:latin typeface="Aptos"/>
                <a:ea typeface="Aptos"/>
                <a:cs typeface="Aptos"/>
                <a:sym typeface="Aptos"/>
              </a:rPr>
              <a:t> Nền tảng Mầm Non Hòa Phước Canvas Studio tất cả trong một</a:t>
            </a:r>
            <a:endParaRPr lang="vi-VN" sz="2300">
              <a:solidFill>
                <a:srgbClr val="000054"/>
              </a:solidFill>
              <a:latin typeface="Aptos"/>
              <a:ea typeface="Aptos"/>
              <a:cs typeface="Aptos"/>
              <a:sym typeface="Aptos"/>
            </a:endParaRPr>
          </a:p>
          <a:p>
            <a:pPr marL="653415" lvl="1" indent="-327025" algn="l">
              <a:lnSpc>
                <a:spcPts val="3500"/>
              </a:lnSpc>
              <a:spcBef>
                <a:spcPts val="550"/>
              </a:spcBef>
              <a:buFont typeface="Arial" panose="020B0604020202020204"/>
              <a:buChar char="•"/>
            </a:pPr>
            <a:r>
              <a:rPr lang="vi-VN" sz="2300" b="1">
                <a:solidFill>
                  <a:srgbClr val="000054"/>
                </a:solidFill>
                <a:latin typeface="Aptos Bold" panose="020B0004020202020204"/>
                <a:ea typeface="Aptos Bold" panose="020B0004020202020204"/>
                <a:cs typeface="Aptos Bold" panose="020B0004020202020204"/>
                <a:sym typeface="Aptos Bold" panose="020B0004020202020204"/>
              </a:rPr>
              <a:t>3. Hệ sinh thái 4 phân hệ:</a:t>
            </a:r>
            <a:r>
              <a:rPr lang="vi-VN" sz="2300">
                <a:solidFill>
                  <a:srgbClr val="000054"/>
                </a:solidFill>
                <a:latin typeface="Aptos"/>
                <a:ea typeface="Aptos"/>
                <a:cs typeface="Aptos"/>
                <a:sym typeface="Aptos"/>
              </a:rPr>
              <a:t> Thiết kế thẻ câu hỏi, Đố vui TV (+35% cỡ chữ), Lật ảnh &amp; 18 mẫu Giáo án A4</a:t>
            </a:r>
            <a:endParaRPr lang="vi-VN" sz="2300">
              <a:solidFill>
                <a:srgbClr val="000054"/>
              </a:solidFill>
              <a:latin typeface="Aptos"/>
              <a:ea typeface="Aptos"/>
              <a:cs typeface="Aptos"/>
              <a:sym typeface="Aptos"/>
            </a:endParaRPr>
          </a:p>
          <a:p>
            <a:pPr marL="653415" lvl="1" indent="-327025" algn="l">
              <a:lnSpc>
                <a:spcPts val="3500"/>
              </a:lnSpc>
              <a:spcBef>
                <a:spcPts val="550"/>
              </a:spcBef>
              <a:buFont typeface="Arial" panose="020B0604020202020204"/>
              <a:buChar char="•"/>
            </a:pPr>
            <a:r>
              <a:rPr lang="vi-VN" sz="2300" b="1">
                <a:solidFill>
                  <a:srgbClr val="000054"/>
                </a:solidFill>
                <a:latin typeface="Aptos Bold" panose="020B0004020202020204"/>
                <a:ea typeface="Aptos Bold" panose="020B0004020202020204"/>
                <a:cs typeface="Aptos Bold" panose="020B0004020202020204"/>
                <a:sym typeface="Aptos Bold" panose="020B0004020202020204"/>
              </a:rPr>
              <a:t>4. Triển khai thực tế:</a:t>
            </a:r>
            <a:r>
              <a:rPr lang="vi-VN" sz="2300">
                <a:solidFill>
                  <a:srgbClr val="000054"/>
                </a:solidFill>
                <a:latin typeface="Aptos"/>
                <a:ea typeface="Aptos"/>
                <a:cs typeface="Aptos"/>
                <a:sym typeface="Aptos"/>
              </a:rPr>
              <a:t> Ứng dụng tại lớp học trên TV thông minh và chia sẻ qua Netlify</a:t>
            </a:r>
            <a:endParaRPr lang="vi-VN" sz="2300">
              <a:solidFill>
                <a:srgbClr val="000054"/>
              </a:solidFill>
              <a:latin typeface="Aptos"/>
              <a:ea typeface="Aptos"/>
              <a:cs typeface="Aptos"/>
              <a:sym typeface="Aptos"/>
            </a:endParaRPr>
          </a:p>
          <a:p>
            <a:pPr marL="653415" lvl="1" indent="-327025" algn="l">
              <a:lnSpc>
                <a:spcPts val="3500"/>
              </a:lnSpc>
              <a:spcBef>
                <a:spcPts val="550"/>
              </a:spcBef>
              <a:buFont typeface="Arial" panose="020B0604020202020204"/>
              <a:buChar char="•"/>
            </a:pPr>
            <a:r>
              <a:rPr lang="vi-VN" sz="2300" b="1">
                <a:solidFill>
                  <a:srgbClr val="000054"/>
                </a:solidFill>
                <a:latin typeface="Aptos Bold" panose="020B0004020202020204"/>
                <a:ea typeface="Aptos Bold" panose="020B0004020202020204"/>
                <a:cs typeface="Aptos Bold" panose="020B0004020202020204"/>
                <a:sym typeface="Aptos Bold" panose="020B0004020202020204"/>
              </a:rPr>
              <a:t>5. Kết quả &amp; Tác động:</a:t>
            </a:r>
            <a:r>
              <a:rPr lang="vi-VN" sz="2300">
                <a:solidFill>
                  <a:srgbClr val="000054"/>
                </a:solidFill>
                <a:latin typeface="Aptos"/>
                <a:ea typeface="Aptos"/>
                <a:cs typeface="Aptos"/>
                <a:sym typeface="Aptos"/>
              </a:rPr>
              <a:t> Tiết kiệm 75% thời gian soạn giảng, hơn 95% trẻ hứng thú tương tác</a:t>
            </a:r>
            <a:endParaRPr lang="vi-VN" sz="2300">
              <a:solidFill>
                <a:srgbClr val="000054"/>
              </a:solidFill>
              <a:latin typeface="Aptos"/>
              <a:ea typeface="Aptos"/>
              <a:cs typeface="Aptos"/>
              <a:sym typeface="Aptos"/>
            </a:endParaRPr>
          </a:p>
          <a:p>
            <a:pPr marL="653415" lvl="1" indent="-327025" algn="l">
              <a:lnSpc>
                <a:spcPts val="3500"/>
              </a:lnSpc>
              <a:spcBef>
                <a:spcPts val="550"/>
              </a:spcBef>
              <a:buFont typeface="Arial" panose="020B0604020202020204"/>
              <a:buChar char="•"/>
            </a:pPr>
            <a:r>
              <a:rPr lang="vi-VN" sz="2300" b="1">
                <a:solidFill>
                  <a:srgbClr val="000054"/>
                </a:solidFill>
                <a:latin typeface="Aptos Bold" panose="020B0004020202020204"/>
                <a:ea typeface="Aptos Bold" panose="020B0004020202020204"/>
                <a:cs typeface="Aptos Bold" panose="020B0004020202020204"/>
                <a:sym typeface="Aptos Bold" panose="020B0004020202020204"/>
              </a:rPr>
              <a:t>6. Thảo luận &amp; Tổng kết:</a:t>
            </a:r>
            <a:r>
              <a:rPr lang="vi-VN" sz="2300">
                <a:solidFill>
                  <a:srgbClr val="000054"/>
                </a:solidFill>
                <a:latin typeface="Aptos"/>
                <a:ea typeface="Aptos"/>
                <a:cs typeface="Aptos"/>
                <a:sym typeface="Aptos"/>
              </a:rPr>
              <a:t> Tính bền vững, chi phí bằng 0 và khả năng nhân rộng toàn ngành</a:t>
            </a:r>
            <a:endParaRPr lang="vi-VN" sz="2300">
              <a:solidFill>
                <a:srgbClr val="000054"/>
              </a:solidFill>
              <a:latin typeface="Aptos"/>
              <a:ea typeface="Aptos"/>
              <a:cs typeface="Aptos"/>
              <a:sym typeface="Aptos"/>
            </a:endParaRPr>
          </a:p>
        </p:txBody>
      </p:sp>
      <p:sp>
        <p:nvSpPr>
          <p:cNvPr id="10" name="TextBox 10"/>
          <p:cNvSpPr txBox="1"/>
          <p:nvPr/>
        </p:nvSpPr>
        <p:spPr>
          <a:xfrm>
            <a:off x="1200000" y="6400000"/>
            <a:ext cx="6600000" cy="2200000"/>
          </a:xfrm>
          <a:prstGeom prst="rect">
            <a:avLst/>
          </a:prstGeom>
        </p:spPr>
        <p:txBody>
          <a:bodyPr lIns="0" tIns="0" rIns="0" bIns="0" rtlCol="0" anchor="t">
            <a:spAutoFit/>
          </a:bodyPr>
          <a:lstStyle/>
          <a:p>
            <a:pPr algn="ctr">
              <a:lnSpc>
                <a:spcPts val="3000"/>
              </a:lnSpc>
            </a:pPr>
            <a:r>
              <a:rPr lang="vi-VN" sz="2100" b="1">
                <a:solidFill>
                  <a:srgbClr val="000054"/>
                </a:solidFill>
                <a:latin typeface="Aptos Bold" panose="020B0004020202020204"/>
                <a:ea typeface="Aptos Bold" panose="020B0004020202020204"/>
                <a:cs typeface="Aptos Bold" panose="020B0004020202020204"/>
                <a:sym typeface="Aptos Bold" panose="020B0004020202020204"/>
              </a:rPr>
              <a:t>Hình minh họa thực tế dự án Web:</a:t>
            </a:r>
            <a:endParaRPr lang="vi-VN" sz="2100" b="1">
              <a:solidFill>
                <a:srgbClr val="000054"/>
              </a:solidFill>
              <a:latin typeface="Aptos Bold" panose="020B0004020202020204"/>
              <a:ea typeface="Aptos Bold" panose="020B0004020202020204"/>
              <a:cs typeface="Aptos Bold" panose="020B0004020202020204"/>
              <a:sym typeface="Aptos Bold" panose="020B0004020202020204"/>
            </a:endParaRPr>
          </a:p>
          <a:p>
            <a:pPr algn="ctr">
              <a:lnSpc>
                <a:spcPts val="2800"/>
              </a:lnSpc>
            </a:pPr>
            <a:r>
              <a:rPr lang="vi-VN" sz="1850" i="1">
                <a:solidFill>
                  <a:srgbClr val="000054"/>
                </a:solidFill>
                <a:latin typeface="Aptos Italics" panose="020B0004020202090204"/>
                <a:ea typeface="Aptos Italics" panose="020B0004020202090204"/>
                <a:cs typeface="Aptos Italics" panose="020B0004020202090204"/>
                <a:sym typeface="Aptos Italics" panose="020B0004020202090204"/>
              </a:rPr>
              <a:t>Mầm Non Hòa Phước Canvas Studio – Thiết kế câu hỏi, Trò chơi Đố vui, Lật ảnh &amp; 18 Mẫu Giáo án A4</a:t>
            </a:r>
            <a:endParaRPr lang="vi-VN" sz="1850" i="1">
              <a:solidFill>
                <a:srgbClr val="000054"/>
              </a:solidFill>
              <a:latin typeface="Aptos Italics" panose="020B0004020202090204"/>
              <a:ea typeface="Aptos Italics" panose="020B0004020202090204"/>
              <a:cs typeface="Aptos Italics" panose="020B0004020202090204"/>
              <a:sym typeface="Aptos Italics" panose="020B0004020202090204"/>
            </a:endParaRPr>
          </a:p>
        </p:txBody>
      </p:sp>
      <p:pic>
        <p:nvPicPr>
          <p:cNvPr id="99" name="Project Preview"/>
          <p:cNvPicPr>
            <a:picLocks noChangeAspect="1"/>
          </p:cNvPicPr>
          <p:nvPr/>
        </p:nvPicPr>
        <p:blipFill>
          <a:blip r:embed="rId2"/>
          <a:stretch>
            <a:fillRect/>
          </a:stretch>
        </p:blipFill>
        <p:spPr>
          <a:xfrm>
            <a:off x="1220000" y="1600000"/>
            <a:ext cx="6560000" cy="4327000"/>
          </a:xfrm>
          <a:prstGeom prst="rect">
            <a:avLst/>
          </a:prstGeom>
          <a:ln w="12700">
            <a:solidFill>
              <a:srgbClr val="F472B6"/>
            </a:solid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1"/>
            <a:stretch>
              <a:fillRect t="-652385"/>
            </a:stretch>
          </a:blipFill>
        </p:spPr>
        <p:txBody>
          <a:bodyPr/>
          <a:lstStyle/>
          <a:p>
            <a:endParaRPr lang="en-AU"/>
          </a:p>
        </p:txBody>
      </p:sp>
      <p:sp>
        <p:nvSpPr>
          <p:cNvPr id="3" name="TextBox 3"/>
          <p:cNvSpPr txBox="1"/>
          <p:nvPr/>
        </p:nvSpPr>
        <p:spPr>
          <a:xfrm>
            <a:off x="882811" y="1005632"/>
            <a:ext cx="7606673" cy="810962"/>
          </a:xfrm>
          <a:prstGeom prst="rect">
            <a:avLst/>
          </a:prstGeom>
        </p:spPr>
        <p:txBody>
          <a:bodyPr lIns="0" tIns="0" rIns="0" bIns="0" rtlCol="0" anchor="t">
            <a:spAutoFit/>
          </a:bodyPr>
          <a:lstStyle/>
          <a:p>
            <a:pPr marL="0" lvl="0" indent="0" algn="l">
              <a:lnSpc>
                <a:spcPts val="6860"/>
              </a:lnSpc>
              <a:spcBef>
                <a:spcPct val="0"/>
              </a:spcBef>
            </a:pPr>
            <a:r>
              <a:rPr lang="en-US" sz="4475" b="1" spc="-223">
                <a:solidFill>
                  <a:srgbClr val="000054"/>
                </a:solidFill>
                <a:latin typeface="Aptos Bold" panose="020B0004020202020204"/>
                <a:ea typeface="Aptos Bold" panose="020B0004020202020204"/>
                <a:cs typeface="Aptos Bold" panose="020B0004020202020204"/>
                <a:sym typeface="Aptos Bold" panose="020B0004020202020204"/>
              </a:rPr>
              <a:t>NỘI DUNG BÀI TRÌNH BÀY</a:t>
            </a:r>
            <a:endParaRPr lang="en-US" sz="4475" b="1" spc="-223">
              <a:solidFill>
                <a:srgbClr val="000054"/>
              </a:solidFill>
              <a:latin typeface="Aptos Bold" panose="020B0004020202020204"/>
              <a:ea typeface="Aptos Bold" panose="020B0004020202020204"/>
              <a:cs typeface="Aptos Bold" panose="020B0004020202020204"/>
              <a:sym typeface="Aptos Bold" panose="020B0004020202020204"/>
            </a:endParaRPr>
          </a:p>
        </p:txBody>
      </p:sp>
      <p:sp>
        <p:nvSpPr>
          <p:cNvPr id="4" name="TextBox 4"/>
          <p:cNvSpPr txBox="1"/>
          <p:nvPr/>
        </p:nvSpPr>
        <p:spPr>
          <a:xfrm>
            <a:off x="714375" y="1950000"/>
            <a:ext cx="16868775" cy="800000"/>
          </a:xfrm>
          <a:prstGeom prst="rect">
            <a:avLst/>
          </a:prstGeom>
        </p:spPr>
        <p:txBody>
          <a:bodyPr lIns="0" tIns="0" rIns="0" bIns="0" rtlCol="0" anchor="t">
            <a:spAutoFit/>
          </a:bodyPr>
          <a:lstStyle/>
          <a:p>
            <a:pPr marL="653415" lvl="1" indent="-327025" algn="l">
              <a:lnSpc>
                <a:spcPts val="3500"/>
              </a:lnSpc>
              <a:spcBef>
                <a:spcPts val="550"/>
              </a:spcBef>
              <a:buFont typeface="Arial" panose="020B0604020202020204"/>
              <a:buChar char="•"/>
            </a:pPr>
            <a:r>
              <a:rPr lang="vi-VN" sz="2450" b="1">
                <a:solidFill>
                  <a:srgbClr val="000054"/>
                </a:solidFill>
                <a:latin typeface="Aptos Bold" panose="020B0004020202020204"/>
                <a:ea typeface="Aptos Bold" panose="020B0004020202020204"/>
                <a:cs typeface="Aptos Bold" panose="020B0004020202020204"/>
                <a:sym typeface="Aptos Bold" panose="020B0004020202020204"/>
              </a:rPr>
              <a:t>Tổng quan dự án:</a:t>
            </a:r>
            <a:r>
              <a:rPr lang="vi-VN" sz="2450">
                <a:solidFill>
                  <a:srgbClr val="000054"/>
                </a:solidFill>
                <a:latin typeface="Aptos"/>
                <a:ea typeface="Aptos"/>
                <a:cs typeface="Aptos"/>
                <a:sym typeface="Aptos"/>
              </a:rPr>
              <a:t> Hệ sinh thái thiết kế bài giảng tương tác &amp; giáo án chuẩn mầm non trên nền tảng Web</a:t>
            </a:r>
            <a:endParaRPr lang="vi-VN" sz="2450">
              <a:solidFill>
                <a:srgbClr val="000054"/>
              </a:solidFill>
              <a:latin typeface="Aptos"/>
              <a:ea typeface="Aptos"/>
              <a:cs typeface="Aptos"/>
              <a:sym typeface="Aptos"/>
            </a:endParaRPr>
          </a:p>
        </p:txBody>
      </p:sp>
      <p:sp>
        <p:nvSpPr>
          <p:cNvPr id="5" name="TextBox 5"/>
          <p:cNvSpPr txBox="1"/>
          <p:nvPr/>
        </p:nvSpPr>
        <p:spPr>
          <a:xfrm>
            <a:off x="714375" y="2950000"/>
            <a:ext cx="16868775" cy="5800000"/>
          </a:xfrm>
          <a:prstGeom prst="rect">
            <a:avLst/>
          </a:prstGeom>
        </p:spPr>
        <p:txBody>
          <a:bodyPr lIns="0" tIns="0" rIns="0" bIns="0" rtlCol="0" anchor="t">
            <a:spAutoFit/>
          </a:bodyPr>
          <a:lstStyle/>
          <a:p>
            <a:pPr marL="653415" lvl="1" indent="-327025" algn="l">
              <a:lnSpc>
                <a:spcPts val="3500"/>
              </a:lnSpc>
              <a:spcBef>
                <a:spcPts val="550"/>
              </a:spcBef>
              <a:buFont typeface="Arial" panose="020B0604020202020204"/>
              <a:buChar char="•"/>
            </a:pPr>
            <a:r>
              <a:rPr lang="vi-VN" sz="2250" b="1">
                <a:solidFill>
                  <a:srgbClr val="000054"/>
                </a:solidFill>
                <a:latin typeface="Aptos Bold" panose="020B0004020202020204"/>
                <a:ea typeface="Aptos Bold" panose="020B0004020202020204"/>
                <a:cs typeface="Aptos Bold" panose="020B0004020202020204"/>
                <a:sym typeface="Aptos Bold" panose="020B0004020202020204"/>
              </a:rPr>
              <a:t>Phân hệ 1 – Thiết kế thẻ câu hỏi trực quan:</a:t>
            </a:r>
            <a:r>
              <a:rPr lang="vi-VN" sz="2250">
                <a:solidFill>
                  <a:srgbClr val="000054"/>
                </a:solidFill>
                <a:latin typeface="Aptos"/>
                <a:ea typeface="Aptos"/>
                <a:cs typeface="Aptos"/>
                <a:sym typeface="Aptos"/>
              </a:rPr>
              <a:t> Tích hợp kho 38 con vật SVG sinh động, hỗ trợ tải ảnh riêng cho từng câu hỏi và từng đáp án A, B, C; tùy chọn 6 chủ đề màu Pastel dịu mắt cho trẻ.</a:t>
            </a:r>
            <a:endParaRPr lang="vi-VN" sz="2250">
              <a:solidFill>
                <a:srgbClr val="000054"/>
              </a:solidFill>
              <a:latin typeface="Aptos"/>
              <a:ea typeface="Aptos"/>
              <a:cs typeface="Aptos"/>
              <a:sym typeface="Aptos"/>
            </a:endParaRPr>
          </a:p>
          <a:p>
            <a:pPr marL="653415" lvl="1" indent="-327025" algn="l">
              <a:lnSpc>
                <a:spcPts val="3500"/>
              </a:lnSpc>
              <a:spcBef>
                <a:spcPts val="550"/>
              </a:spcBef>
              <a:buFont typeface="Arial" panose="020B0604020202020204"/>
              <a:buChar char="•"/>
            </a:pPr>
            <a:r>
              <a:rPr lang="vi-VN" sz="2250" b="1">
                <a:solidFill>
                  <a:srgbClr val="000054"/>
                </a:solidFill>
                <a:latin typeface="Aptos Bold" panose="020B0004020202020204"/>
                <a:ea typeface="Aptos Bold" panose="020B0004020202020204"/>
                <a:cs typeface="Aptos Bold" panose="020B0004020202020204"/>
                <a:sym typeface="Aptos Bold" panose="020B0004020202020204"/>
              </a:rPr>
              <a:t>Phân hệ 2 – Bé Chơi Đố Vui &amp; Trình Chiếu TV:</a:t>
            </a:r>
            <a:r>
              <a:rPr lang="vi-VN" sz="2250">
                <a:solidFill>
                  <a:srgbClr val="000054"/>
                </a:solidFill>
                <a:latin typeface="Aptos"/>
                <a:ea typeface="Aptos"/>
                <a:cs typeface="Aptos"/>
                <a:sym typeface="Aptos"/>
              </a:rPr>
              <a:t> Chế độ trình chiếu toàn màn hình phóng to câu hỏi và đáp án thêm 35%, tích hợp giọng đọc tiếng Việt tự động, nhạc nền, gợi ý và huy hiệu khen thưởng.</a:t>
            </a:r>
            <a:endParaRPr lang="vi-VN" sz="2250">
              <a:solidFill>
                <a:srgbClr val="000054"/>
              </a:solidFill>
              <a:latin typeface="Aptos"/>
              <a:ea typeface="Aptos"/>
              <a:cs typeface="Aptos"/>
              <a:sym typeface="Aptos"/>
            </a:endParaRPr>
          </a:p>
          <a:p>
            <a:pPr marL="653415" lvl="1" indent="-327025" algn="l">
              <a:lnSpc>
                <a:spcPts val="3500"/>
              </a:lnSpc>
              <a:spcBef>
                <a:spcPts val="550"/>
              </a:spcBef>
              <a:buFont typeface="Arial" panose="020B0604020202020204"/>
              <a:buChar char="•"/>
            </a:pPr>
            <a:r>
              <a:rPr lang="vi-VN" sz="2250" b="1">
                <a:solidFill>
                  <a:srgbClr val="000054"/>
                </a:solidFill>
                <a:latin typeface="Aptos Bold" panose="020B0004020202020204"/>
                <a:ea typeface="Aptos Bold" panose="020B0004020202020204"/>
                <a:cs typeface="Aptos Bold" panose="020B0004020202020204"/>
                <a:sym typeface="Aptos Bold" panose="020B0004020202020204"/>
              </a:rPr>
              <a:t>Phân hệ 3 – Trò chơi Lật Ảnh Con Vật (Memory Card Game):</a:t>
            </a:r>
            <a:r>
              <a:rPr lang="vi-VN" sz="2250">
                <a:solidFill>
                  <a:srgbClr val="000054"/>
                </a:solidFill>
                <a:latin typeface="Aptos"/>
                <a:ea typeface="Aptos"/>
                <a:cs typeface="Aptos"/>
                <a:sym typeface="Aptos"/>
              </a:rPr>
              <a:t> Rèn luyện trí nhớ và phản xạ cho trẻ với 3 mức độ (Dễ 6 thẻ, Vừa 8 thẻ, Khó 12 thẻ) kèm hiệu ứng âm thanh &amp; bảng vàng phần thưởng.</a:t>
            </a:r>
            <a:endParaRPr lang="vi-VN" sz="2250">
              <a:solidFill>
                <a:srgbClr val="000054"/>
              </a:solidFill>
              <a:latin typeface="Aptos"/>
              <a:ea typeface="Aptos"/>
              <a:cs typeface="Aptos"/>
              <a:sym typeface="Aptos"/>
            </a:endParaRPr>
          </a:p>
          <a:p>
            <a:pPr marL="653415" lvl="1" indent="-327025" algn="l">
              <a:lnSpc>
                <a:spcPts val="3500"/>
              </a:lnSpc>
              <a:spcBef>
                <a:spcPts val="550"/>
              </a:spcBef>
              <a:buFont typeface="Arial" panose="020B0604020202020204"/>
              <a:buChar char="•"/>
            </a:pPr>
            <a:r>
              <a:rPr lang="vi-VN" sz="2250" b="1">
                <a:solidFill>
                  <a:srgbClr val="000054"/>
                </a:solidFill>
                <a:latin typeface="Aptos Bold" panose="020B0004020202020204"/>
                <a:ea typeface="Aptos Bold" panose="020B0004020202020204"/>
                <a:cs typeface="Aptos Bold" panose="020B0004020202020204"/>
                <a:sym typeface="Aptos Bold" panose="020B0004020202020204"/>
              </a:rPr>
              <a:t>Phân hệ 4 – Trình soạn Giáo án A4 đa chủ đề:</a:t>
            </a:r>
            <a:r>
              <a:rPr lang="vi-VN" sz="2250">
                <a:solidFill>
                  <a:srgbClr val="000054"/>
                </a:solidFill>
                <a:latin typeface="Aptos"/>
                <a:ea typeface="Aptos"/>
                <a:cs typeface="Aptos"/>
                <a:sym typeface="Aptos"/>
              </a:rPr>
              <a:t> Tích hợp sẵn 18 mẫu Giáo án chuẩn 5E &amp; STEAM theo 9 chủ đề mầm non, hỗ trợ xuất trực tiếp ra file Word (.doc), PDF (.pdf) và File Game HTML độc lập.</a:t>
            </a:r>
            <a:endParaRPr lang="vi-VN" sz="2250">
              <a:solidFill>
                <a:srgbClr val="000054"/>
              </a:solidFill>
              <a:latin typeface="Aptos"/>
              <a:ea typeface="Aptos"/>
              <a:cs typeface="Aptos"/>
              <a:sym typeface="Apto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3" name="TextBox 3"/>
          <p:cNvSpPr txBox="1"/>
          <p:nvPr/>
        </p:nvSpPr>
        <p:spPr>
          <a:xfrm>
            <a:off x="882811" y="1005632"/>
            <a:ext cx="7606673" cy="810962"/>
          </a:xfrm>
          <a:prstGeom prst="rect">
            <a:avLst/>
          </a:prstGeom>
        </p:spPr>
        <p:txBody>
          <a:bodyPr lIns="0" tIns="0" rIns="0" bIns="0" rtlCol="0" anchor="t">
            <a:spAutoFit/>
          </a:bodyPr>
          <a:lstStyle/>
          <a:p>
            <a:pPr marL="0" lvl="0" indent="0" algn="l">
              <a:lnSpc>
                <a:spcPts val="6860"/>
              </a:lnSpc>
              <a:spcBef>
                <a:spcPct val="0"/>
              </a:spcBef>
            </a:pPr>
            <a:r>
              <a:rPr lang="en-US" sz="4475" b="1" spc="-223">
                <a:solidFill>
                  <a:srgbClr val="000054"/>
                </a:solidFill>
                <a:latin typeface="Aptos Bold" panose="020B0004020202020204"/>
                <a:ea typeface="Aptos Bold" panose="020B0004020202020204"/>
                <a:cs typeface="Aptos Bold" panose="020B0004020202020204"/>
                <a:sym typeface="Aptos Bold" panose="020B0004020202020204"/>
              </a:rPr>
              <a:t>BỐI CẢNH VÀ VẤN ĐỀ</a:t>
            </a:r>
            <a:endParaRPr lang="en-US" sz="4475" b="1" spc="-223">
              <a:solidFill>
                <a:srgbClr val="000054"/>
              </a:solidFill>
              <a:latin typeface="Aptos Bold" panose="020B0004020202020204"/>
              <a:ea typeface="Aptos Bold" panose="020B0004020202020204"/>
              <a:cs typeface="Aptos Bold" panose="020B0004020202020204"/>
              <a:sym typeface="Aptos Bold" panose="020B0004020202020204"/>
            </a:endParaRPr>
          </a:p>
        </p:txBody>
      </p:sp>
      <p:sp>
        <p:nvSpPr>
          <p:cNvPr id="4" name="TextBox 4"/>
          <p:cNvSpPr txBox="1"/>
          <p:nvPr/>
        </p:nvSpPr>
        <p:spPr>
          <a:xfrm>
            <a:off x="714375" y="2027149"/>
            <a:ext cx="16868775" cy="6700000"/>
          </a:xfrm>
          <a:prstGeom prst="rect">
            <a:avLst/>
          </a:prstGeom>
        </p:spPr>
        <p:txBody>
          <a:bodyPr lIns="0" tIns="0" rIns="0" bIns="0" rtlCol="0" anchor="t">
            <a:spAutoFit/>
          </a:bodyPr>
          <a:lstStyle/>
          <a:p>
            <a:pPr marL="653415" lvl="1" indent="-327025" algn="l">
              <a:lnSpc>
                <a:spcPts val="3500"/>
              </a:lnSpc>
              <a:spcBef>
                <a:spcPts val="550"/>
              </a:spcBef>
              <a:buFont typeface="Arial" panose="020B0604020202020204"/>
              <a:buChar char="•"/>
            </a:pPr>
            <a:r>
              <a:rPr lang="vi-VN" sz="2350" b="1">
                <a:solidFill>
                  <a:srgbClr val="000054"/>
                </a:solidFill>
                <a:latin typeface="Aptos Bold" panose="020B0004020202020204"/>
                <a:ea typeface="Aptos Bold" panose="020B0004020202020204"/>
                <a:cs typeface="Aptos Bold" panose="020B0004020202020204"/>
                <a:sym typeface="Aptos Bold" panose="020B0004020202020204"/>
              </a:rPr>
              <a:t>Vấn đề thực tế trong thiết kế học liệu và tổ chức hoạt động giáo dục mầm non:</a:t>
            </a:r>
            <a:endParaRPr lang="vi-VN" sz="2350" b="1">
              <a:solidFill>
                <a:srgbClr val="000054"/>
              </a:solidFill>
              <a:latin typeface="Aptos Bold" panose="020B0004020202020204"/>
              <a:ea typeface="Aptos Bold" panose="020B0004020202020204"/>
              <a:cs typeface="Aptos Bold" panose="020B0004020202020204"/>
              <a:sym typeface="Aptos Bold" panose="020B0004020202020204"/>
            </a:endParaRPr>
          </a:p>
          <a:p>
            <a:pPr marL="1306830" lvl="2" indent="-435610" algn="l">
              <a:lnSpc>
                <a:spcPts val="3250"/>
              </a:lnSpc>
              <a:spcBef>
                <a:spcPts val="250"/>
              </a:spcBef>
              <a:buFont typeface="Arial" panose="020B0604020202020204"/>
              <a:buChar char="◦"/>
            </a:pPr>
            <a:r>
              <a:rPr lang="vi-VN" sz="2200" b="1">
                <a:solidFill>
                  <a:srgbClr val="000054"/>
                </a:solidFill>
                <a:latin typeface="Aptos Bold" panose="020B0004020202020204"/>
                <a:ea typeface="Aptos Bold" panose="020B0004020202020204"/>
                <a:cs typeface="Aptos Bold" panose="020B0004020202020204"/>
                <a:sym typeface="Aptos Bold" panose="020B0004020202020204"/>
              </a:rPr>
              <a:t>Thời gian chuẩn bị lâu &amp; rào cản kỹ thuật:</a:t>
            </a:r>
            <a:r>
              <a:rPr lang="vi-VN" sz="2200">
                <a:solidFill>
                  <a:srgbClr val="000054"/>
                </a:solidFill>
                <a:latin typeface="Aptos"/>
                <a:ea typeface="Aptos"/>
                <a:cs typeface="Aptos"/>
                <a:sym typeface="Aptos"/>
              </a:rPr>
              <a:t> Giáo viên mất từ 3 – 4 giờ để làm một trò chơi đố vui trên PowerPoint/Canva nhưng dễ bị lỗi hiệu ứng, khó thay ảnh thực tế và chữ hiển thị nhỏ khi chiếu lên TV lớp học.</a:t>
            </a:r>
            <a:endParaRPr lang="vi-VN" sz="2200">
              <a:solidFill>
                <a:srgbClr val="000054"/>
              </a:solidFill>
              <a:latin typeface="Aptos"/>
              <a:ea typeface="Aptos"/>
              <a:cs typeface="Aptos"/>
              <a:sym typeface="Aptos"/>
            </a:endParaRPr>
          </a:p>
          <a:p>
            <a:pPr marL="1306830" lvl="2" indent="-435610" algn="l">
              <a:lnSpc>
                <a:spcPts val="3250"/>
              </a:lnSpc>
              <a:spcBef>
                <a:spcPts val="250"/>
              </a:spcBef>
              <a:buFont typeface="Arial" panose="020B0604020202020204"/>
              <a:buChar char="◦"/>
            </a:pPr>
            <a:r>
              <a:rPr lang="vi-VN" sz="2200" b="1">
                <a:solidFill>
                  <a:srgbClr val="000054"/>
                </a:solidFill>
                <a:latin typeface="Aptos Bold" panose="020B0004020202020204"/>
                <a:ea typeface="Aptos Bold" panose="020B0004020202020204"/>
                <a:cs typeface="Aptos Bold" panose="020B0004020202020204"/>
                <a:sym typeface="Aptos Bold" panose="020B0004020202020204"/>
              </a:rPr>
              <a:t>Thiếu công cụ chuyên biệt cho trẻ 3 – 6 tuổi:</a:t>
            </a:r>
            <a:r>
              <a:rPr lang="vi-VN" sz="2200">
                <a:solidFill>
                  <a:srgbClr val="000054"/>
                </a:solidFill>
                <a:latin typeface="Aptos"/>
                <a:ea typeface="Aptos"/>
                <a:cs typeface="Aptos"/>
                <a:sym typeface="Aptos"/>
              </a:rPr>
              <a:t> Các nền tảng có sẵn (Kahoot, Quizizz) đòi hỏi trẻ biết đọc chữ nhanh, thiếu giọng đọc tiếng Việt tự nhiên, thiếu hình minh họa cỡ lớn và phần thưởng trực quan.</a:t>
            </a:r>
            <a:endParaRPr lang="vi-VN" sz="2200">
              <a:solidFill>
                <a:srgbClr val="000054"/>
              </a:solidFill>
              <a:latin typeface="Aptos"/>
              <a:ea typeface="Aptos"/>
              <a:cs typeface="Aptos"/>
              <a:sym typeface="Aptos"/>
            </a:endParaRPr>
          </a:p>
          <a:p>
            <a:pPr marL="1306830" lvl="2" indent="-435610" algn="l">
              <a:lnSpc>
                <a:spcPts val="3250"/>
              </a:lnSpc>
              <a:spcBef>
                <a:spcPts val="250"/>
              </a:spcBef>
              <a:buFont typeface="Arial" panose="020B0604020202020204"/>
              <a:buChar char="◦"/>
            </a:pPr>
            <a:r>
              <a:rPr lang="vi-VN" sz="2200" b="1">
                <a:solidFill>
                  <a:srgbClr val="000054"/>
                </a:solidFill>
                <a:latin typeface="Aptos Bold" panose="020B0004020202020204"/>
                <a:ea typeface="Aptos Bold" panose="020B0004020202020204"/>
                <a:cs typeface="Aptos Bold" panose="020B0004020202020204"/>
                <a:sym typeface="Aptos Bold" panose="020B0004020202020204"/>
              </a:rPr>
              <a:t>Sự rời rạc giữa Học liệu số và Hồ sơ giáo án:</a:t>
            </a:r>
            <a:r>
              <a:rPr lang="vi-VN" sz="2200">
                <a:solidFill>
                  <a:srgbClr val="000054"/>
                </a:solidFill>
                <a:latin typeface="Aptos"/>
                <a:ea typeface="Aptos"/>
                <a:cs typeface="Aptos"/>
                <a:sym typeface="Aptos"/>
              </a:rPr>
              <a:t> Giáo viên phải sử dụng nhiều phần mềm khác nhau để vừa thiết kế trò chơi trên lớp, vừa soạn Giáo án A4 và phiếu bài tập theo chuẩn Bộ GD&amp;ĐT.</a:t>
            </a:r>
            <a:endParaRPr lang="vi-VN" sz="2200">
              <a:solidFill>
                <a:srgbClr val="000054"/>
              </a:solidFill>
              <a:latin typeface="Aptos"/>
              <a:ea typeface="Aptos"/>
              <a:cs typeface="Aptos"/>
              <a:sym typeface="Aptos"/>
            </a:endParaRPr>
          </a:p>
          <a:p>
            <a:pPr marL="653415" lvl="1" indent="-327025" algn="l">
              <a:lnSpc>
                <a:spcPts val="3500"/>
              </a:lnSpc>
              <a:spcBef>
                <a:spcPts val="550"/>
              </a:spcBef>
              <a:buFont typeface="Arial" panose="020B0604020202020204"/>
              <a:buChar char="•"/>
            </a:pPr>
            <a:r>
              <a:rPr lang="vi-VN" sz="2350" b="1">
                <a:solidFill>
                  <a:srgbClr val="000054"/>
                </a:solidFill>
                <a:latin typeface="Aptos Bold" panose="020B0004020202020204"/>
                <a:ea typeface="Aptos Bold" panose="020B0004020202020204"/>
                <a:cs typeface="Aptos Bold" panose="020B0004020202020204"/>
                <a:sym typeface="Aptos Bold" panose="020B0004020202020204"/>
              </a:rPr>
              <a:t>Đối tượng hướng tới &amp; Hưởng lợi chính:</a:t>
            </a:r>
            <a:endParaRPr lang="vi-VN" sz="2350" b="1">
              <a:solidFill>
                <a:srgbClr val="000054"/>
              </a:solidFill>
              <a:latin typeface="Aptos Bold" panose="020B0004020202020204"/>
              <a:ea typeface="Aptos Bold" panose="020B0004020202020204"/>
              <a:cs typeface="Aptos Bold" panose="020B0004020202020204"/>
              <a:sym typeface="Aptos Bold" panose="020B0004020202020204"/>
            </a:endParaRPr>
          </a:p>
          <a:p>
            <a:pPr marL="1306830" lvl="2" indent="-435610" algn="l">
              <a:lnSpc>
                <a:spcPts val="3250"/>
              </a:lnSpc>
              <a:spcBef>
                <a:spcPts val="250"/>
              </a:spcBef>
              <a:buFont typeface="Arial" panose="020B0604020202020204"/>
              <a:buChar char="◦"/>
            </a:pPr>
            <a:r>
              <a:rPr lang="vi-VN" sz="2200" b="1">
                <a:solidFill>
                  <a:srgbClr val="000054"/>
                </a:solidFill>
                <a:latin typeface="Aptos Bold" panose="020B0004020202020204"/>
                <a:ea typeface="Aptos Bold" panose="020B0004020202020204"/>
                <a:cs typeface="Aptos Bold" panose="020B0004020202020204"/>
                <a:sym typeface="Aptos Bold" panose="020B0004020202020204"/>
              </a:rPr>
              <a:t>Trực tiếp:</a:t>
            </a:r>
            <a:r>
              <a:rPr lang="vi-VN" sz="2200">
                <a:solidFill>
                  <a:srgbClr val="000054"/>
                </a:solidFill>
                <a:latin typeface="Aptos"/>
                <a:ea typeface="Aptos"/>
                <a:cs typeface="Aptos"/>
                <a:sym typeface="Aptos"/>
              </a:rPr>
              <a:t> Trẻ mầm non (3 – 6 tuổi) và đội ngũ Giáo viên Trường Mầm Non Hòa Phước. Gián tiếp: Phụ huynh đồng hành cùng trẻ ôn tập tại nhà qua đường dẫn Netlify hoặc file HTML.</a:t>
            </a:r>
            <a:endParaRPr lang="vi-VN" sz="2200">
              <a:solidFill>
                <a:srgbClr val="000054"/>
              </a:solidFill>
              <a:latin typeface="Aptos"/>
              <a:ea typeface="Aptos"/>
              <a:cs typeface="Aptos"/>
              <a:sym typeface="Aptos"/>
            </a:endParaRPr>
          </a:p>
        </p:txBody>
      </p:sp>
      <p:sp>
        <p:nvSpPr>
          <p:cNvPr id="5" name="Freeform 5"/>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1"/>
            <a:stretch>
              <a:fillRect t="-652385"/>
            </a:stretch>
          </a:blipFill>
        </p:spPr>
        <p:txBody>
          <a:bodyPr/>
          <a:lstStyle/>
          <a:p>
            <a:endParaRPr lang="en-AU"/>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14375" y="1950000"/>
            <a:ext cx="16868775" cy="6800000"/>
          </a:xfrm>
          <a:prstGeom prst="rect">
            <a:avLst/>
          </a:prstGeom>
        </p:spPr>
        <p:txBody>
          <a:bodyPr lIns="0" tIns="0" rIns="0" bIns="0" rtlCol="0" anchor="t">
            <a:spAutoFit/>
          </a:bodyPr>
          <a:lstStyle/>
          <a:p>
            <a:pPr marL="653415" lvl="1" indent="-327025" algn="l">
              <a:lnSpc>
                <a:spcPts val="3500"/>
              </a:lnSpc>
              <a:spcBef>
                <a:spcPts val="550"/>
              </a:spcBef>
              <a:buFont typeface="Arial" panose="020B0604020202020204"/>
              <a:buChar char="•"/>
            </a:pPr>
            <a:r>
              <a:rPr lang="vi-VN" sz="2300" b="1">
                <a:solidFill>
                  <a:srgbClr val="000054"/>
                </a:solidFill>
                <a:latin typeface="Aptos Bold" panose="020B0004020202020204"/>
                <a:ea typeface="Aptos Bold" panose="020B0004020202020204"/>
                <a:cs typeface="Aptos Bold" panose="020B0004020202020204"/>
                <a:sym typeface="Aptos Bold" panose="020B0004020202020204"/>
              </a:rPr>
              <a:t>Ý tưởng &amp; Giải pháp công nghệ AI đề xuất:</a:t>
            </a:r>
            <a:endParaRPr lang="vi-VN" sz="2300" b="1">
              <a:solidFill>
                <a:srgbClr val="000054"/>
              </a:solidFill>
              <a:latin typeface="Aptos Bold" panose="020B0004020202020204"/>
              <a:ea typeface="Aptos Bold" panose="020B0004020202020204"/>
              <a:cs typeface="Aptos Bold" panose="020B0004020202020204"/>
              <a:sym typeface="Aptos Bold" panose="020B0004020202020204"/>
            </a:endParaRPr>
          </a:p>
          <a:p>
            <a:pPr marL="1306830" lvl="2" indent="-435610" algn="l">
              <a:lnSpc>
                <a:spcPts val="3250"/>
              </a:lnSpc>
              <a:spcBef>
                <a:spcPts val="250"/>
              </a:spcBef>
              <a:buFont typeface="Arial" panose="020B0604020202020204"/>
              <a:buChar char="◦"/>
            </a:pPr>
            <a:r>
              <a:rPr lang="vi-VN" sz="2100" b="1">
                <a:solidFill>
                  <a:srgbClr val="000054"/>
                </a:solidFill>
                <a:latin typeface="Aptos Bold" panose="020B0004020202020204"/>
                <a:ea typeface="Aptos Bold" panose="020B0004020202020204"/>
                <a:cs typeface="Aptos Bold" panose="020B0004020202020204"/>
                <a:sym typeface="Aptos Bold" panose="020B0004020202020204"/>
              </a:rPr>
              <a:t>Nền tảng &amp; Công nghệ:</a:t>
            </a:r>
            <a:r>
              <a:rPr lang="vi-VN" sz="2100">
                <a:solidFill>
                  <a:srgbClr val="000054"/>
                </a:solidFill>
                <a:latin typeface="Aptos"/>
                <a:ea typeface="Aptos"/>
                <a:cs typeface="Aptos"/>
                <a:sym typeface="Aptos"/>
              </a:rPr>
              <a:t> Sử dụng AI hỗ trợ biên soạn ngân hàng câu đố vần thơ, gợi ý sư phạm, lời khen khích lệ và cấu trúc 18 mẫu giáo án 5E/STEAM; kết hợp Web Speech API (giọng đọc tiếng Việt), Web Audio API và IndexedDB.</a:t>
            </a:r>
            <a:endParaRPr lang="vi-VN" sz="2100">
              <a:solidFill>
                <a:srgbClr val="000054"/>
              </a:solidFill>
              <a:latin typeface="Aptos"/>
              <a:ea typeface="Aptos"/>
              <a:cs typeface="Aptos"/>
              <a:sym typeface="Aptos"/>
            </a:endParaRPr>
          </a:p>
          <a:p>
            <a:pPr marL="1306830" lvl="2" indent="-435610" algn="l">
              <a:lnSpc>
                <a:spcPts val="3250"/>
              </a:lnSpc>
              <a:spcBef>
                <a:spcPts val="250"/>
              </a:spcBef>
              <a:buFont typeface="Arial" panose="020B0604020202020204"/>
              <a:buChar char="◦"/>
            </a:pPr>
            <a:r>
              <a:rPr lang="vi-VN" sz="2100" b="1">
                <a:solidFill>
                  <a:srgbClr val="000054"/>
                </a:solidFill>
                <a:latin typeface="Aptos Bold" panose="020B0004020202020204"/>
                <a:ea typeface="Aptos Bold" panose="020B0004020202020204"/>
                <a:cs typeface="Aptos Bold" panose="020B0004020202020204"/>
                <a:sym typeface="Aptos Bold" panose="020B0004020202020204"/>
              </a:rPr>
              <a:t>Ưu thế vượt trội của AI &amp; Web Studio:</a:t>
            </a:r>
            <a:r>
              <a:rPr lang="vi-VN" sz="2100">
                <a:solidFill>
                  <a:srgbClr val="000054"/>
                </a:solidFill>
                <a:latin typeface="Aptos"/>
                <a:ea typeface="Aptos"/>
                <a:cs typeface="Aptos"/>
                <a:sym typeface="Aptos"/>
              </a:rPr>
              <a:t> Rút ngắn quy trình tạo học liệu từ hàng giờ xuống chỉ còn 3 – 5 phút; tự động đồng bộ dữ liệu câu hỏi sang chế độ Đố vui TV, Phiếu bài tập A4 và File xuất Word/PDF/HTML.</a:t>
            </a:r>
            <a:endParaRPr lang="vi-VN" sz="2100">
              <a:solidFill>
                <a:srgbClr val="000054"/>
              </a:solidFill>
              <a:latin typeface="Aptos"/>
              <a:ea typeface="Aptos"/>
              <a:cs typeface="Aptos"/>
              <a:sym typeface="Aptos"/>
            </a:endParaRPr>
          </a:p>
          <a:p>
            <a:pPr marL="1306830" lvl="2" indent="-435610" algn="l">
              <a:lnSpc>
                <a:spcPts val="3250"/>
              </a:lnSpc>
              <a:spcBef>
                <a:spcPts val="250"/>
              </a:spcBef>
              <a:buFont typeface="Arial" panose="020B0604020202020204"/>
              <a:buChar char="◦"/>
            </a:pPr>
            <a:r>
              <a:rPr lang="vi-VN" sz="2100" b="1">
                <a:solidFill>
                  <a:srgbClr val="000054"/>
                </a:solidFill>
                <a:latin typeface="Aptos Bold" panose="020B0004020202020204"/>
                <a:ea typeface="Aptos Bold" panose="020B0004020202020204"/>
                <a:cs typeface="Aptos Bold" panose="020B0004020202020204"/>
                <a:sym typeface="Aptos Bold" panose="020B0004020202020204"/>
              </a:rPr>
              <a:t>Tính đạo đức, an toàn &amp; trách nhiệm:</a:t>
            </a:r>
            <a:r>
              <a:rPr lang="vi-VN" sz="2100">
                <a:solidFill>
                  <a:srgbClr val="000054"/>
                </a:solidFill>
                <a:latin typeface="Aptos"/>
                <a:ea typeface="Aptos"/>
                <a:cs typeface="Aptos"/>
                <a:sym typeface="Aptos"/>
              </a:rPr>
              <a:t> 100% nội dung câu đố, hình ảnh và âm thanh được kiểm duyệt phù hợp tâm lý lứa tuổi mầm non; không chứa quảng cáo, không thu thập dữ liệu cá nhân của trẻ.</a:t>
            </a:r>
            <a:endParaRPr lang="vi-VN" sz="2100">
              <a:solidFill>
                <a:srgbClr val="000054"/>
              </a:solidFill>
              <a:latin typeface="Aptos"/>
              <a:ea typeface="Aptos"/>
              <a:cs typeface="Aptos"/>
              <a:sym typeface="Aptos"/>
            </a:endParaRPr>
          </a:p>
          <a:p>
            <a:pPr marL="653415" lvl="1" indent="-327025" algn="l">
              <a:lnSpc>
                <a:spcPts val="3500"/>
              </a:lnSpc>
              <a:spcBef>
                <a:spcPts val="550"/>
              </a:spcBef>
              <a:buFont typeface="Arial" panose="020B0604020202020204"/>
              <a:buChar char="•"/>
            </a:pPr>
            <a:r>
              <a:rPr lang="vi-VN" sz="2300" b="1">
                <a:solidFill>
                  <a:srgbClr val="000054"/>
                </a:solidFill>
                <a:latin typeface="Aptos Bold" panose="020B0004020202020204"/>
                <a:ea typeface="Aptos Bold" panose="020B0004020202020204"/>
                <a:cs typeface="Aptos Bold" panose="020B0004020202020204"/>
                <a:sym typeface="Aptos Bold" panose="020B0004020202020204"/>
              </a:rPr>
              <a:t>Cách thức thực hiện &amp; Điểm nhấn kỹ thuật của sản phẩm:</a:t>
            </a:r>
            <a:endParaRPr lang="vi-VN" sz="2300" b="1">
              <a:solidFill>
                <a:srgbClr val="000054"/>
              </a:solidFill>
              <a:latin typeface="Aptos Bold" panose="020B0004020202020204"/>
              <a:ea typeface="Aptos Bold" panose="020B0004020202020204"/>
              <a:cs typeface="Aptos Bold" panose="020B0004020202020204"/>
              <a:sym typeface="Aptos Bold" panose="020B0004020202020204"/>
            </a:endParaRPr>
          </a:p>
          <a:p>
            <a:pPr marL="1306830" lvl="2" indent="-435610" algn="l">
              <a:lnSpc>
                <a:spcPts val="3250"/>
              </a:lnSpc>
              <a:spcBef>
                <a:spcPts val="250"/>
              </a:spcBef>
              <a:buFont typeface="Arial" panose="020B0604020202020204"/>
              <a:buChar char="◦"/>
            </a:pPr>
            <a:r>
              <a:rPr lang="vi-VN" sz="2100" b="1">
                <a:solidFill>
                  <a:srgbClr val="000054"/>
                </a:solidFill>
                <a:latin typeface="Aptos Bold" panose="020B0004020202020204"/>
                <a:ea typeface="Aptos Bold" panose="020B0004020202020204"/>
                <a:cs typeface="Aptos Bold" panose="020B0004020202020204"/>
                <a:sym typeface="Aptos Bold" panose="020B0004020202020204"/>
              </a:rPr>
              <a:t>Tối ưu hiển thị lớp học:</a:t>
            </a:r>
            <a:r>
              <a:rPr lang="vi-VN" sz="2100">
                <a:solidFill>
                  <a:srgbClr val="000054"/>
                </a:solidFill>
                <a:latin typeface="Aptos"/>
                <a:ea typeface="Aptos"/>
                <a:cs typeface="Aptos"/>
                <a:sym typeface="Aptos"/>
              </a:rPr>
              <a:t> Chế độ trình chiếu phóng to câu hỏi &amp; đáp án thêm 35% giúp trẻ quan sát rõ từ xa; tích hợp 6 chủ đề màu Pastel nhẹ nhàng (Hồng Phấn, Xanh Da Trời, Xanh Lá Mầm, Vàng Nắng Mai, Tím Lavender, Cam Đào).</a:t>
            </a:r>
            <a:endParaRPr lang="vi-VN" sz="2100">
              <a:solidFill>
                <a:srgbClr val="000054"/>
              </a:solidFill>
              <a:latin typeface="Aptos"/>
              <a:ea typeface="Aptos"/>
              <a:cs typeface="Aptos"/>
              <a:sym typeface="Aptos"/>
            </a:endParaRPr>
          </a:p>
          <a:p>
            <a:pPr marL="1306830" lvl="2" indent="-435610" algn="l">
              <a:lnSpc>
                <a:spcPts val="3250"/>
              </a:lnSpc>
              <a:spcBef>
                <a:spcPts val="250"/>
              </a:spcBef>
              <a:buFont typeface="Arial" panose="020B0604020202020204"/>
              <a:buChar char="◦"/>
            </a:pPr>
            <a:r>
              <a:rPr lang="vi-VN" sz="2100" b="1">
                <a:solidFill>
                  <a:srgbClr val="000054"/>
                </a:solidFill>
                <a:latin typeface="Aptos Bold" panose="020B0004020202020204"/>
                <a:ea typeface="Aptos Bold" panose="020B0004020202020204"/>
                <a:cs typeface="Aptos Bold" panose="020B0004020202020204"/>
                <a:sym typeface="Aptos Bold" panose="020B0004020202020204"/>
              </a:rPr>
              <a:t>Đa dạng hóa học liệu:</a:t>
            </a:r>
            <a:r>
              <a:rPr lang="vi-VN" sz="2100">
                <a:solidFill>
                  <a:srgbClr val="000054"/>
                </a:solidFill>
                <a:latin typeface="Aptos"/>
                <a:ea typeface="Aptos"/>
                <a:cs typeface="Aptos"/>
                <a:sym typeface="Aptos"/>
              </a:rPr>
              <a:t> Cho phép tải ảnh trực tiếp từ máy tính cho từng câu hỏi/đáp án, nạp nhanh bộ câu hỏi mẫu theo độ tuổi (3–4 tuổi, 4–5 tuổi, 5–6 tuổi) và triển khai trực tuyến trên Netlify.</a:t>
            </a:r>
            <a:endParaRPr lang="vi-VN" sz="2100">
              <a:solidFill>
                <a:srgbClr val="000054"/>
              </a:solidFill>
              <a:latin typeface="Aptos"/>
              <a:ea typeface="Aptos"/>
              <a:cs typeface="Aptos"/>
              <a:sym typeface="Aptos"/>
            </a:endParaRPr>
          </a:p>
        </p:txBody>
      </p:sp>
      <p:sp>
        <p:nvSpPr>
          <p:cNvPr id="3" name="AutoShape 3"/>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4" name="TextBox 4"/>
          <p:cNvSpPr txBox="1"/>
          <p:nvPr/>
        </p:nvSpPr>
        <p:spPr>
          <a:xfrm>
            <a:off x="714375" y="9505950"/>
            <a:ext cx="10426219" cy="322656"/>
          </a:xfrm>
          <a:prstGeom prst="rect">
            <a:avLst/>
          </a:prstGeom>
        </p:spPr>
        <p:txBody>
          <a:bodyPr lIns="0" tIns="0" rIns="0" bIns="0" rtlCol="0" anchor="t">
            <a:spAutoFit/>
          </a:bodyPr>
          <a:lstStyle/>
          <a:p>
            <a:pPr algn="r">
              <a:lnSpc>
                <a:spcPts val="2455"/>
              </a:lnSpc>
            </a:pPr>
            <a:r>
              <a:rPr lang="en-US" sz="2600" b="1" spc="96">
                <a:solidFill>
                  <a:srgbClr val="000054"/>
                </a:solidFill>
                <a:latin typeface="Aptos Bold" panose="020B0004020202020204"/>
                <a:ea typeface="Aptos Bold" panose="020B0004020202020204"/>
                <a:cs typeface="Aptos Bold" panose="020B0004020202020204"/>
                <a:sym typeface="Aptos Bold" panose="020B0004020202020204"/>
              </a:rPr>
              <a:t>Diễn đàn Đổi mới sáng tạo Giáo dục Việt Nam với Trí tuệ nhân tạo </a:t>
            </a:r>
            <a:endParaRPr lang="en-US" sz="2600" b="1" spc="96">
              <a:solidFill>
                <a:srgbClr val="000054"/>
              </a:solidFill>
              <a:latin typeface="Aptos Bold" panose="020B0004020202020204"/>
              <a:ea typeface="Aptos Bold" panose="020B0004020202020204"/>
              <a:cs typeface="Aptos Bold" panose="020B0004020202020204"/>
              <a:sym typeface="Aptos Bold" panose="020B0004020202020204"/>
            </a:endParaRPr>
          </a:p>
        </p:txBody>
      </p:sp>
      <p:sp>
        <p:nvSpPr>
          <p:cNvPr id="5" name="Freeform 5"/>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1"/>
            <a:stretch>
              <a:fillRect t="-616917"/>
            </a:stretch>
          </a:blipFill>
        </p:spPr>
        <p:txBody>
          <a:bodyPr/>
          <a:lstStyle/>
          <a:p>
            <a:endParaRPr lang="en-AU"/>
          </a:p>
        </p:txBody>
      </p:sp>
      <p:sp>
        <p:nvSpPr>
          <p:cNvPr id="6" name="TextBox 6"/>
          <p:cNvSpPr txBox="1"/>
          <p:nvPr/>
        </p:nvSpPr>
        <p:spPr>
          <a:xfrm>
            <a:off x="882811" y="1005632"/>
            <a:ext cx="13304664" cy="810962"/>
          </a:xfrm>
          <a:prstGeom prst="rect">
            <a:avLst/>
          </a:prstGeom>
        </p:spPr>
        <p:txBody>
          <a:bodyPr lIns="0" tIns="0" rIns="0" bIns="0" rtlCol="0" anchor="t">
            <a:spAutoFit/>
          </a:bodyPr>
          <a:lstStyle/>
          <a:p>
            <a:pPr marL="0" lvl="0" indent="0" algn="l">
              <a:lnSpc>
                <a:spcPts val="6860"/>
              </a:lnSpc>
              <a:spcBef>
                <a:spcPct val="0"/>
              </a:spcBef>
            </a:pPr>
            <a:r>
              <a:rPr lang="en-US" sz="4475" b="1" spc="-223">
                <a:solidFill>
                  <a:srgbClr val="000054"/>
                </a:solidFill>
                <a:latin typeface="Aptos Bold" panose="020B0004020202020204"/>
                <a:ea typeface="Aptos Bold" panose="020B0004020202020204"/>
                <a:cs typeface="Aptos Bold" panose="020B0004020202020204"/>
                <a:sym typeface="Aptos Bold" panose="020B0004020202020204"/>
              </a:rPr>
              <a:t>Ý TƯỞNG VÀ GIẢI PHÁP</a:t>
            </a:r>
            <a:endParaRPr lang="en-US" sz="4475" b="1" spc="-223">
              <a:solidFill>
                <a:srgbClr val="000054"/>
              </a:solidFill>
              <a:latin typeface="Aptos Bold" panose="020B0004020202020204"/>
              <a:ea typeface="Aptos Bold" panose="020B0004020202020204"/>
              <a:cs typeface="Aptos Bold" panose="020B0004020202020204"/>
              <a:sym typeface="Aptos Bold" panose="020B00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32"/>
            <a:ext cx="7606673" cy="810962"/>
          </a:xfrm>
          <a:prstGeom prst="rect">
            <a:avLst/>
          </a:prstGeom>
        </p:spPr>
        <p:txBody>
          <a:bodyPr lIns="0" tIns="0" rIns="0" bIns="0" rtlCol="0" anchor="t">
            <a:spAutoFit/>
          </a:bodyPr>
          <a:lstStyle/>
          <a:p>
            <a:pPr marL="0" lvl="0" indent="0" algn="l">
              <a:lnSpc>
                <a:spcPts val="6860"/>
              </a:lnSpc>
              <a:spcBef>
                <a:spcPct val="0"/>
              </a:spcBef>
            </a:pPr>
            <a:r>
              <a:rPr lang="en-US" sz="4475" b="1" spc="-223">
                <a:solidFill>
                  <a:srgbClr val="000054"/>
                </a:solidFill>
                <a:latin typeface="Aptos Bold" panose="020B0004020202020204"/>
                <a:ea typeface="Aptos Bold" panose="020B0004020202020204"/>
                <a:cs typeface="Aptos Bold" panose="020B0004020202020204"/>
                <a:sym typeface="Aptos Bold" panose="020B0004020202020204"/>
              </a:rPr>
              <a:t>TRIỂN KHAI THỰC TẾ</a:t>
            </a:r>
            <a:endParaRPr lang="en-US" sz="4475" b="1" spc="-223">
              <a:solidFill>
                <a:srgbClr val="000054"/>
              </a:solidFill>
              <a:latin typeface="Aptos Bold" panose="020B0004020202020204"/>
              <a:ea typeface="Aptos Bold" panose="020B0004020202020204"/>
              <a:cs typeface="Aptos Bold" panose="020B0004020202020204"/>
              <a:sym typeface="Aptos Bold" panose="020B0004020202020204"/>
            </a:endParaRPr>
          </a:p>
        </p:txBody>
      </p:sp>
      <p:sp>
        <p:nvSpPr>
          <p:cNvPr id="3" name="TextBox 3"/>
          <p:cNvSpPr txBox="1"/>
          <p:nvPr/>
        </p:nvSpPr>
        <p:spPr>
          <a:xfrm>
            <a:off x="714375" y="1980000"/>
            <a:ext cx="16868775" cy="6750000"/>
          </a:xfrm>
          <a:prstGeom prst="rect">
            <a:avLst/>
          </a:prstGeom>
        </p:spPr>
        <p:txBody>
          <a:bodyPr lIns="0" tIns="0" rIns="0" bIns="0" rtlCol="0" anchor="t">
            <a:spAutoFit/>
          </a:bodyPr>
          <a:lstStyle/>
          <a:p>
            <a:pPr marL="653415" lvl="1" indent="-327025" algn="l">
              <a:lnSpc>
                <a:spcPts val="3500"/>
              </a:lnSpc>
              <a:spcBef>
                <a:spcPts val="550"/>
              </a:spcBef>
              <a:buFont typeface="Arial" panose="020B0604020202020204"/>
              <a:buChar char="•"/>
            </a:pPr>
            <a:r>
              <a:rPr lang="vi-VN" sz="2350" b="1">
                <a:solidFill>
                  <a:srgbClr val="000054"/>
                </a:solidFill>
                <a:latin typeface="Aptos Bold" panose="020B0004020202020204"/>
                <a:ea typeface="Aptos Bold" panose="020B0004020202020204"/>
                <a:cs typeface="Aptos Bold" panose="020B0004020202020204"/>
                <a:sym typeface="Aptos Bold" panose="020B0004020202020204"/>
              </a:rPr>
              <a:t>Mô hình triển khai thực tế trong công tác giảng dạy tại Trường Mầm Non Hòa Phước:</a:t>
            </a:r>
            <a:endParaRPr lang="vi-VN" sz="2350" b="1">
              <a:solidFill>
                <a:srgbClr val="000054"/>
              </a:solidFill>
              <a:latin typeface="Aptos Bold" panose="020B0004020202020204"/>
              <a:ea typeface="Aptos Bold" panose="020B0004020202020204"/>
              <a:cs typeface="Aptos Bold" panose="020B0004020202020204"/>
              <a:sym typeface="Aptos Bold" panose="020B0004020202020204"/>
            </a:endParaRPr>
          </a:p>
          <a:p>
            <a:pPr marL="1306830" lvl="2" indent="-435610" algn="l">
              <a:lnSpc>
                <a:spcPts val="3250"/>
              </a:lnSpc>
              <a:spcBef>
                <a:spcPts val="250"/>
              </a:spcBef>
              <a:buFont typeface="Arial" panose="020B0604020202020204"/>
              <a:buChar char="◦"/>
            </a:pPr>
            <a:r>
              <a:rPr lang="vi-VN" sz="2150" b="1">
                <a:solidFill>
                  <a:srgbClr val="000054"/>
                </a:solidFill>
                <a:latin typeface="Aptos Bold" panose="020B0004020202020204"/>
                <a:ea typeface="Aptos Bold" panose="020B0004020202020204"/>
                <a:cs typeface="Aptos Bold" panose="020B0004020202020204"/>
                <a:sym typeface="Aptos Bold" panose="020B0004020202020204"/>
              </a:rPr>
              <a:t>1. Giai đoạn Chuẩn bị bài giảng:</a:t>
            </a:r>
            <a:r>
              <a:rPr lang="vi-VN" sz="2150">
                <a:solidFill>
                  <a:srgbClr val="000054"/>
                </a:solidFill>
                <a:latin typeface="Aptos"/>
                <a:ea typeface="Aptos"/>
                <a:cs typeface="Aptos"/>
                <a:sym typeface="Aptos"/>
              </a:rPr>
              <a:t> Giáo viên chọn 1 trong 18 mẫu Giáo án A4 đa chủ đề (Động vật, Thực vật, Giao thông, Nghề nghiệp, STEAM, Kỹ năng sống...), tùy chỉnh câu đố và tải ảnh minh họa thực tế.</a:t>
            </a:r>
            <a:endParaRPr lang="vi-VN" sz="2150">
              <a:solidFill>
                <a:srgbClr val="000054"/>
              </a:solidFill>
              <a:latin typeface="Aptos"/>
              <a:ea typeface="Aptos"/>
              <a:cs typeface="Aptos"/>
              <a:sym typeface="Aptos"/>
            </a:endParaRPr>
          </a:p>
          <a:p>
            <a:pPr marL="1306830" lvl="2" indent="-435610" algn="l">
              <a:lnSpc>
                <a:spcPts val="3250"/>
              </a:lnSpc>
              <a:spcBef>
                <a:spcPts val="250"/>
              </a:spcBef>
              <a:buFont typeface="Arial" panose="020B0604020202020204"/>
              <a:buChar char="◦"/>
            </a:pPr>
            <a:r>
              <a:rPr lang="vi-VN" sz="2150" b="1">
                <a:solidFill>
                  <a:srgbClr val="000054"/>
                </a:solidFill>
                <a:latin typeface="Aptos Bold" panose="020B0004020202020204"/>
                <a:ea typeface="Aptos Bold" panose="020B0004020202020204"/>
                <a:cs typeface="Aptos Bold" panose="020B0004020202020204"/>
                <a:sym typeface="Aptos Bold" panose="020B0004020202020204"/>
              </a:rPr>
              <a:t>2. Giai đoạn Tổ chức hoạt động trên lớp:</a:t>
            </a:r>
            <a:r>
              <a:rPr lang="vi-VN" sz="2150">
                <a:solidFill>
                  <a:srgbClr val="000054"/>
                </a:solidFill>
                <a:latin typeface="Aptos"/>
                <a:ea typeface="Aptos"/>
                <a:cs typeface="Aptos"/>
                <a:sym typeface="Aptos"/>
              </a:rPr>
              <a:t> Mở trực tiếp đường dẫn Netlify trên TV thông minh/bảng tương tác; tổ chức trò chơi Bé Chơi Đố Vui (hiển thị cỡ lớn +35%) và Lật Ảnh Con Vật kèm trao huy hiệu khen thưởng.</a:t>
            </a:r>
            <a:endParaRPr lang="vi-VN" sz="2150">
              <a:solidFill>
                <a:srgbClr val="000054"/>
              </a:solidFill>
              <a:latin typeface="Aptos"/>
              <a:ea typeface="Aptos"/>
              <a:cs typeface="Aptos"/>
              <a:sym typeface="Aptos"/>
            </a:endParaRPr>
          </a:p>
          <a:p>
            <a:pPr marL="1306830" lvl="2" indent="-435610" algn="l">
              <a:lnSpc>
                <a:spcPts val="3250"/>
              </a:lnSpc>
              <a:spcBef>
                <a:spcPts val="250"/>
              </a:spcBef>
              <a:buFont typeface="Arial" panose="020B0604020202020204"/>
              <a:buChar char="◦"/>
            </a:pPr>
            <a:r>
              <a:rPr lang="vi-VN" sz="2150" b="1">
                <a:solidFill>
                  <a:srgbClr val="000054"/>
                </a:solidFill>
                <a:latin typeface="Aptos Bold" panose="020B0004020202020204"/>
                <a:ea typeface="Aptos Bold" panose="020B0004020202020204"/>
                <a:cs typeface="Aptos Bold" panose="020B0004020202020204"/>
                <a:sym typeface="Aptos Bold" panose="020B0004020202020204"/>
              </a:rPr>
              <a:t>3. Giai đoạn Lưu trữ &amp; Phối hợp phụ huynh:</a:t>
            </a:r>
            <a:r>
              <a:rPr lang="vi-VN" sz="2150">
                <a:solidFill>
                  <a:srgbClr val="000054"/>
                </a:solidFill>
                <a:latin typeface="Aptos"/>
                <a:ea typeface="Aptos"/>
                <a:cs typeface="Aptos"/>
                <a:sym typeface="Aptos"/>
              </a:rPr>
              <a:t> Xuất Giáo án &amp; Phiếu bài tập ra file Word (.doc), PDF (.pdf) phục vụ hồ sơ chuyên môn; xuất file Game HTML độc lập gửi nhóm Zalo lớp để trẻ chơi cùng bố mẹ.</a:t>
            </a:r>
            <a:endParaRPr lang="vi-VN" sz="2150">
              <a:solidFill>
                <a:srgbClr val="000054"/>
              </a:solidFill>
              <a:latin typeface="Aptos"/>
              <a:ea typeface="Aptos"/>
              <a:cs typeface="Aptos"/>
              <a:sym typeface="Aptos"/>
            </a:endParaRPr>
          </a:p>
          <a:p>
            <a:pPr marL="653415" lvl="1" indent="-327025" algn="l">
              <a:lnSpc>
                <a:spcPts val="3500"/>
              </a:lnSpc>
              <a:spcBef>
                <a:spcPts val="550"/>
              </a:spcBef>
              <a:buFont typeface="Arial" panose="020B0604020202020204"/>
              <a:buChar char="•"/>
            </a:pPr>
            <a:r>
              <a:rPr lang="vi-VN" sz="2350" b="1">
                <a:solidFill>
                  <a:srgbClr val="000054"/>
                </a:solidFill>
                <a:latin typeface="Aptos Bold" panose="020B0004020202020204"/>
                <a:ea typeface="Aptos Bold" panose="020B0004020202020204"/>
                <a:cs typeface="Aptos Bold" panose="020B0004020202020204"/>
                <a:sym typeface="Aptos Bold" panose="020B0004020202020204"/>
              </a:rPr>
              <a:t>Thời gian &amp; Quy mô đối tượng hưởng lợi:</a:t>
            </a:r>
            <a:endParaRPr lang="vi-VN" sz="2350" b="1">
              <a:solidFill>
                <a:srgbClr val="000054"/>
              </a:solidFill>
              <a:latin typeface="Aptos Bold" panose="020B0004020202020204"/>
              <a:ea typeface="Aptos Bold" panose="020B0004020202020204"/>
              <a:cs typeface="Aptos Bold" panose="020B0004020202020204"/>
              <a:sym typeface="Aptos Bold" panose="020B0004020202020204"/>
            </a:endParaRPr>
          </a:p>
          <a:p>
            <a:pPr marL="1306830" lvl="2" indent="-435610" algn="l">
              <a:lnSpc>
                <a:spcPts val="3250"/>
              </a:lnSpc>
              <a:spcBef>
                <a:spcPts val="250"/>
              </a:spcBef>
              <a:buFont typeface="Arial" panose="020B0604020202020204"/>
              <a:buChar char="◦"/>
            </a:pPr>
            <a:r>
              <a:rPr lang="vi-VN" sz="2150" b="1">
                <a:solidFill>
                  <a:srgbClr val="000054"/>
                </a:solidFill>
                <a:latin typeface="Aptos Bold" panose="020B0004020202020204"/>
                <a:ea typeface="Aptos Bold" panose="020B0004020202020204"/>
                <a:cs typeface="Aptos Bold" panose="020B0004020202020204"/>
                <a:sym typeface="Aptos Bold" panose="020B0004020202020204"/>
              </a:rPr>
              <a:t>Thời gian triển khai:</a:t>
            </a:r>
            <a:r>
              <a:rPr lang="vi-VN" sz="2150">
                <a:solidFill>
                  <a:srgbClr val="000054"/>
                </a:solidFill>
                <a:latin typeface="Aptos"/>
                <a:ea typeface="Aptos"/>
                <a:cs typeface="Aptos"/>
                <a:sym typeface="Aptos"/>
              </a:rPr>
              <a:t> Áp dụng xuyên suốt học kỳ trong năm học 2025 – 2026 tại các khối lớp Mẫu giáo Bé, Nhỡ, Lớn thuộc Trường Mầm Non Hòa Phước.</a:t>
            </a:r>
            <a:endParaRPr lang="vi-VN" sz="2150">
              <a:solidFill>
                <a:srgbClr val="000054"/>
              </a:solidFill>
              <a:latin typeface="Aptos"/>
              <a:ea typeface="Aptos"/>
              <a:cs typeface="Aptos"/>
              <a:sym typeface="Aptos"/>
            </a:endParaRPr>
          </a:p>
          <a:p>
            <a:pPr marL="1306830" lvl="2" indent="-435610" algn="l">
              <a:lnSpc>
                <a:spcPts val="3250"/>
              </a:lnSpc>
              <a:spcBef>
                <a:spcPts val="250"/>
              </a:spcBef>
              <a:buFont typeface="Arial" panose="020B0604020202020204"/>
              <a:buChar char="◦"/>
            </a:pPr>
            <a:r>
              <a:rPr lang="vi-VN" sz="2150" b="1">
                <a:solidFill>
                  <a:srgbClr val="000054"/>
                </a:solidFill>
                <a:latin typeface="Aptos Bold" panose="020B0004020202020204"/>
                <a:ea typeface="Aptos Bold" panose="020B0004020202020204"/>
                <a:cs typeface="Aptos Bold" panose="020B0004020202020204"/>
                <a:sym typeface="Aptos Bold" panose="020B0004020202020204"/>
              </a:rPr>
              <a:t>Đối tượng hưởng lợi:</a:t>
            </a:r>
            <a:r>
              <a:rPr lang="vi-VN" sz="2150">
                <a:solidFill>
                  <a:srgbClr val="000054"/>
                </a:solidFill>
                <a:latin typeface="Aptos"/>
                <a:ea typeface="Aptos"/>
                <a:cs typeface="Aptos"/>
                <a:sym typeface="Aptos"/>
              </a:rPr>
              <a:t> 100% giáo viên các tổ chuyên môn sử dụng thường xuyên trong tiết học Khám phá khoa học – xã hội, Làm quen chữ cái &amp; Toán; hàng trăm trẻ mầm non và phụ huynh cùng tương tác.</a:t>
            </a:r>
            <a:endParaRPr lang="vi-VN" sz="2150">
              <a:solidFill>
                <a:srgbClr val="000054"/>
              </a:solidFill>
              <a:latin typeface="Aptos"/>
              <a:ea typeface="Aptos"/>
              <a:cs typeface="Aptos"/>
              <a:sym typeface="Aptos"/>
            </a:endParaRP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TextBox 5"/>
          <p:cNvSpPr txBox="1"/>
          <p:nvPr/>
        </p:nvSpPr>
        <p:spPr>
          <a:xfrm>
            <a:off x="714375" y="9505950"/>
            <a:ext cx="10426219" cy="322656"/>
          </a:xfrm>
          <a:prstGeom prst="rect">
            <a:avLst/>
          </a:prstGeom>
        </p:spPr>
        <p:txBody>
          <a:bodyPr lIns="0" tIns="0" rIns="0" bIns="0" rtlCol="0" anchor="t">
            <a:spAutoFit/>
          </a:bodyPr>
          <a:lstStyle/>
          <a:p>
            <a:pPr algn="r">
              <a:lnSpc>
                <a:spcPts val="2455"/>
              </a:lnSpc>
            </a:pPr>
            <a:r>
              <a:rPr lang="en-US" sz="2600" b="1" spc="96">
                <a:solidFill>
                  <a:srgbClr val="000054"/>
                </a:solidFill>
                <a:latin typeface="Aptos Bold" panose="020B0004020202020204"/>
                <a:ea typeface="Aptos Bold" panose="020B0004020202020204"/>
                <a:cs typeface="Aptos Bold" panose="020B0004020202020204"/>
                <a:sym typeface="Aptos Bold" panose="020B0004020202020204"/>
              </a:rPr>
              <a:t>Diễn đàn Đổi mới sáng tạo Giáo dục Việt Nam với Trí tuệ nhân tạo </a:t>
            </a:r>
            <a:endParaRPr lang="en-US" sz="2600" b="1" spc="96">
              <a:solidFill>
                <a:srgbClr val="000054"/>
              </a:solidFill>
              <a:latin typeface="Aptos Bold" panose="020B0004020202020204"/>
              <a:ea typeface="Aptos Bold" panose="020B0004020202020204"/>
              <a:cs typeface="Aptos Bold" panose="020B0004020202020204"/>
              <a:sym typeface="Aptos Bold" panose="020B0004020202020204"/>
            </a:endParaRPr>
          </a:p>
        </p:txBody>
      </p:sp>
      <p:sp>
        <p:nvSpPr>
          <p:cNvPr id="6" name="Freeform 6"/>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1"/>
            <a:stretch>
              <a:fillRect t="-616917"/>
            </a:stretch>
          </a:blipFill>
        </p:spPr>
        <p:txBody>
          <a:bodyPr/>
          <a:lstStyle/>
          <a:p>
            <a:endParaRPr lang="en-AU"/>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32"/>
            <a:ext cx="14571860" cy="810962"/>
          </a:xfrm>
          <a:prstGeom prst="rect">
            <a:avLst/>
          </a:prstGeom>
        </p:spPr>
        <p:txBody>
          <a:bodyPr lIns="0" tIns="0" rIns="0" bIns="0" rtlCol="0" anchor="t">
            <a:spAutoFit/>
          </a:bodyPr>
          <a:lstStyle/>
          <a:p>
            <a:pPr marL="0" lvl="0" indent="0" algn="l">
              <a:lnSpc>
                <a:spcPts val="6860"/>
              </a:lnSpc>
              <a:spcBef>
                <a:spcPct val="0"/>
              </a:spcBef>
            </a:pPr>
            <a:r>
              <a:rPr lang="en-US" sz="4475" b="1" spc="-223">
                <a:solidFill>
                  <a:srgbClr val="000054"/>
                </a:solidFill>
                <a:latin typeface="Aptos Bold" panose="020B0004020202020204"/>
                <a:ea typeface="Aptos Bold" panose="020B0004020202020204"/>
                <a:cs typeface="Aptos Bold" panose="020B0004020202020204"/>
                <a:sym typeface="Aptos Bold" panose="020B0004020202020204"/>
              </a:rPr>
              <a:t>KẾT QUẢ VÀ TÁC ĐỘNG </a:t>
            </a:r>
            <a:endParaRPr lang="en-US" sz="4475" b="1" spc="-223">
              <a:solidFill>
                <a:srgbClr val="000054"/>
              </a:solidFill>
              <a:latin typeface="Aptos Bold" panose="020B0004020202020204"/>
              <a:ea typeface="Aptos Bold" panose="020B0004020202020204"/>
              <a:cs typeface="Aptos Bold" panose="020B0004020202020204"/>
              <a:sym typeface="Aptos Bold" panose="020B0004020202020204"/>
            </a:endParaRPr>
          </a:p>
        </p:txBody>
      </p:sp>
      <p:sp>
        <p:nvSpPr>
          <p:cNvPr id="3" name="TextBox 3"/>
          <p:cNvSpPr txBox="1"/>
          <p:nvPr/>
        </p:nvSpPr>
        <p:spPr>
          <a:xfrm>
            <a:off x="714375" y="1980000"/>
            <a:ext cx="16868775" cy="6750000"/>
          </a:xfrm>
          <a:prstGeom prst="rect">
            <a:avLst/>
          </a:prstGeom>
        </p:spPr>
        <p:txBody>
          <a:bodyPr lIns="0" tIns="0" rIns="0" bIns="0" rtlCol="0" anchor="t">
            <a:spAutoFit/>
          </a:bodyPr>
          <a:lstStyle/>
          <a:p>
            <a:pPr marL="653415" lvl="1" indent="-327025" algn="l">
              <a:lnSpc>
                <a:spcPts val="3500"/>
              </a:lnSpc>
              <a:spcBef>
                <a:spcPts val="550"/>
              </a:spcBef>
              <a:buFont typeface="Arial" panose="020B0604020202020204"/>
              <a:buChar char="•"/>
            </a:pPr>
            <a:r>
              <a:rPr lang="vi-VN" sz="2350" b="1">
                <a:solidFill>
                  <a:srgbClr val="000054"/>
                </a:solidFill>
                <a:latin typeface="Aptos Bold" panose="020B0004020202020204"/>
                <a:ea typeface="Aptos Bold" panose="020B0004020202020204"/>
                <a:cs typeface="Aptos Bold" panose="020B0004020202020204"/>
                <a:sym typeface="Aptos Bold" panose="020B0004020202020204"/>
              </a:rPr>
              <a:t>Kết quả định lượng &amp; Sự thay đổi tích cực sau khi áp dụng:</a:t>
            </a:r>
            <a:endParaRPr lang="vi-VN" sz="2350" b="1">
              <a:solidFill>
                <a:srgbClr val="000054"/>
              </a:solidFill>
              <a:latin typeface="Aptos Bold" panose="020B0004020202020204"/>
              <a:ea typeface="Aptos Bold" panose="020B0004020202020204"/>
              <a:cs typeface="Aptos Bold" panose="020B0004020202020204"/>
              <a:sym typeface="Aptos Bold" panose="020B0004020202020204"/>
            </a:endParaRPr>
          </a:p>
          <a:p>
            <a:pPr marL="1306830" lvl="2" indent="-435610" algn="l">
              <a:lnSpc>
                <a:spcPts val="3250"/>
              </a:lnSpc>
              <a:spcBef>
                <a:spcPts val="250"/>
              </a:spcBef>
              <a:buFont typeface="Arial" panose="020B0604020202020204"/>
              <a:buChar char="◦"/>
            </a:pPr>
            <a:r>
              <a:rPr lang="vi-VN" sz="2150" b="1">
                <a:solidFill>
                  <a:srgbClr val="000054"/>
                </a:solidFill>
                <a:latin typeface="Aptos Bold" panose="020B0004020202020204"/>
                <a:ea typeface="Aptos Bold" panose="020B0004020202020204"/>
                <a:cs typeface="Aptos Bold" panose="020B0004020202020204"/>
                <a:sym typeface="Aptos Bold" panose="020B0004020202020204"/>
              </a:rPr>
              <a:t>Đối với trẻ mầm non:</a:t>
            </a:r>
            <a:r>
              <a:rPr lang="vi-VN" sz="2150">
                <a:solidFill>
                  <a:srgbClr val="000054"/>
                </a:solidFill>
                <a:latin typeface="Aptos"/>
                <a:ea typeface="Aptos"/>
                <a:cs typeface="Aptos"/>
                <a:sym typeface="Aptos"/>
              </a:rPr>
              <a:t> Tỷ lệ trẻ tập trung chú ý và chủ động giơ tay tham gia hoạt động đạt trên 95%; trẻ ghi nhớ đặc điểm sự vật nhanh hơn nhờ kết hợp đồng thời Hình ảnh lớn + Giọng đọc + Âm thanh khen thưởng.</a:t>
            </a:r>
            <a:endParaRPr lang="vi-VN" sz="2150">
              <a:solidFill>
                <a:srgbClr val="000054"/>
              </a:solidFill>
              <a:latin typeface="Aptos"/>
              <a:ea typeface="Aptos"/>
              <a:cs typeface="Aptos"/>
              <a:sym typeface="Aptos"/>
            </a:endParaRPr>
          </a:p>
          <a:p>
            <a:pPr marL="1306830" lvl="2" indent="-435610" algn="l">
              <a:lnSpc>
                <a:spcPts val="3250"/>
              </a:lnSpc>
              <a:spcBef>
                <a:spcPts val="250"/>
              </a:spcBef>
              <a:buFont typeface="Arial" panose="020B0604020202020204"/>
              <a:buChar char="◦"/>
            </a:pPr>
            <a:r>
              <a:rPr lang="vi-VN" sz="2150" b="1">
                <a:solidFill>
                  <a:srgbClr val="000054"/>
                </a:solidFill>
                <a:latin typeface="Aptos Bold" panose="020B0004020202020204"/>
                <a:ea typeface="Aptos Bold" panose="020B0004020202020204"/>
                <a:cs typeface="Aptos Bold" panose="020B0004020202020204"/>
                <a:sym typeface="Aptos Bold" panose="020B0004020202020204"/>
              </a:rPr>
              <a:t>Đối với giáo viên:</a:t>
            </a:r>
            <a:r>
              <a:rPr lang="vi-VN" sz="2150">
                <a:solidFill>
                  <a:srgbClr val="000054"/>
                </a:solidFill>
                <a:latin typeface="Aptos"/>
                <a:ea typeface="Aptos"/>
                <a:cs typeface="Aptos"/>
                <a:sym typeface="Aptos"/>
              </a:rPr>
              <a:t> Giảm 75% thời gian thiết kế học liệu tương tác và soạn giáo án (từ 3 – 4 giờ xuống còn 15 – 20 phút/tiết dạy); 100% giáo viên sử dụng thành thạo ngay trên trình duyệt mà không cần kỹ năng lập trình.</a:t>
            </a:r>
            <a:endParaRPr lang="vi-VN" sz="2150">
              <a:solidFill>
                <a:srgbClr val="000054"/>
              </a:solidFill>
              <a:latin typeface="Aptos"/>
              <a:ea typeface="Aptos"/>
              <a:cs typeface="Aptos"/>
              <a:sym typeface="Aptos"/>
            </a:endParaRPr>
          </a:p>
          <a:p>
            <a:pPr marL="653415" lvl="1" indent="-327025" algn="l">
              <a:lnSpc>
                <a:spcPts val="3500"/>
              </a:lnSpc>
              <a:spcBef>
                <a:spcPts val="550"/>
              </a:spcBef>
              <a:buFont typeface="Arial" panose="020B0604020202020204"/>
              <a:buChar char="•"/>
            </a:pPr>
            <a:r>
              <a:rPr lang="vi-VN" sz="2350" b="1">
                <a:solidFill>
                  <a:srgbClr val="000054"/>
                </a:solidFill>
                <a:latin typeface="Aptos Bold" panose="020B0004020202020204"/>
                <a:ea typeface="Aptos Bold" panose="020B0004020202020204"/>
                <a:cs typeface="Aptos Bold" panose="020B0004020202020204"/>
                <a:sym typeface="Aptos Bold" panose="020B0004020202020204"/>
              </a:rPr>
              <a:t>Minh chứng thực tế trên sản phẩm:</a:t>
            </a:r>
            <a:endParaRPr lang="vi-VN" sz="2350" b="1">
              <a:solidFill>
                <a:srgbClr val="000054"/>
              </a:solidFill>
              <a:latin typeface="Aptos Bold" panose="020B0004020202020204"/>
              <a:ea typeface="Aptos Bold" panose="020B0004020202020204"/>
              <a:cs typeface="Aptos Bold" panose="020B0004020202020204"/>
              <a:sym typeface="Aptos Bold" panose="020B0004020202020204"/>
            </a:endParaRPr>
          </a:p>
          <a:p>
            <a:pPr marL="1306830" lvl="2" indent="-435610" algn="l">
              <a:lnSpc>
                <a:spcPts val="3250"/>
              </a:lnSpc>
              <a:spcBef>
                <a:spcPts val="250"/>
              </a:spcBef>
              <a:buFont typeface="Arial" panose="020B0604020202020204"/>
              <a:buChar char="◦"/>
            </a:pPr>
            <a:r>
              <a:rPr lang="vi-VN" sz="2150">
                <a:solidFill>
                  <a:srgbClr val="000054"/>
                </a:solidFill>
                <a:latin typeface="Aptos"/>
                <a:ea typeface="Aptos"/>
                <a:cs typeface="Aptos"/>
                <a:sym typeface="Aptos"/>
              </a:rPr>
              <a:t>Tích hợp hoàn chỉnh 38 đồ họa con vật mẫu, 14+ trang câu hỏi tương tác đa cấp độ, 3 chế độ lật thẻ trí nhớ, 18 khung Giáo án A4 chuẩn sư phạm và tính năng xuất học liệu đa định dạng (.doc, .pdf, .html).</a:t>
            </a:r>
            <a:endParaRPr lang="vi-VN" sz="2150">
              <a:solidFill>
                <a:srgbClr val="000054"/>
              </a:solidFill>
              <a:latin typeface="Aptos"/>
              <a:ea typeface="Aptos"/>
              <a:cs typeface="Aptos"/>
              <a:sym typeface="Aptos"/>
            </a:endParaRPr>
          </a:p>
          <a:p>
            <a:pPr marL="653415" lvl="1" indent="-327025" algn="l">
              <a:lnSpc>
                <a:spcPts val="3500"/>
              </a:lnSpc>
              <a:spcBef>
                <a:spcPts val="550"/>
              </a:spcBef>
              <a:buFont typeface="Arial" panose="020B0604020202020204"/>
              <a:buChar char="•"/>
            </a:pPr>
            <a:r>
              <a:rPr lang="vi-VN" sz="2350" b="1">
                <a:solidFill>
                  <a:srgbClr val="000054"/>
                </a:solidFill>
                <a:latin typeface="Aptos Bold" panose="020B0004020202020204"/>
                <a:ea typeface="Aptos Bold" panose="020B0004020202020204"/>
                <a:cs typeface="Aptos Bold" panose="020B0004020202020204"/>
                <a:sym typeface="Aptos Bold" panose="020B0004020202020204"/>
              </a:rPr>
              <a:t>Phản hồi từ đồng nghiệp và phụ huynh:</a:t>
            </a:r>
            <a:endParaRPr lang="vi-VN" sz="2350" b="1">
              <a:solidFill>
                <a:srgbClr val="000054"/>
              </a:solidFill>
              <a:latin typeface="Aptos Bold" panose="020B0004020202020204"/>
              <a:ea typeface="Aptos Bold" panose="020B0004020202020204"/>
              <a:cs typeface="Aptos Bold" panose="020B0004020202020204"/>
              <a:sym typeface="Aptos Bold" panose="020B0004020202020204"/>
            </a:endParaRPr>
          </a:p>
          <a:p>
            <a:pPr marL="1306830" lvl="2" indent="-435610" algn="l">
              <a:lnSpc>
                <a:spcPts val="3250"/>
              </a:lnSpc>
              <a:spcBef>
                <a:spcPts val="250"/>
              </a:spcBef>
              <a:buFont typeface="Arial" panose="020B0604020202020204"/>
              <a:buChar char="◦"/>
            </a:pPr>
            <a:r>
              <a:rPr lang="vi-VN" sz="2150">
                <a:solidFill>
                  <a:srgbClr val="000054"/>
                </a:solidFill>
                <a:latin typeface="Aptos"/>
                <a:ea typeface="Aptos"/>
                <a:cs typeface="Aptos"/>
                <a:sym typeface="Aptos"/>
              </a:rPr>
              <a:t>Khi trình chiếu lên TV lớp học, phần câu hỏi và đáp án phóng to rất rõ nét, màu sắc dịu mắt; các bé vô cùng hào hứng khi nghe giọng đọc câu đố và tự tay chọn huy hiệu chiến thắng. — Giáo viên Trường MN Hòa Phước.</a:t>
            </a:r>
            <a:endParaRPr lang="vi-VN" sz="2150">
              <a:solidFill>
                <a:srgbClr val="000054"/>
              </a:solidFill>
              <a:latin typeface="Aptos"/>
              <a:ea typeface="Aptos"/>
              <a:cs typeface="Aptos"/>
              <a:sym typeface="Aptos"/>
            </a:endParaRP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TextBox 5"/>
          <p:cNvSpPr txBox="1"/>
          <p:nvPr/>
        </p:nvSpPr>
        <p:spPr>
          <a:xfrm>
            <a:off x="714375" y="9505950"/>
            <a:ext cx="10426219" cy="322656"/>
          </a:xfrm>
          <a:prstGeom prst="rect">
            <a:avLst/>
          </a:prstGeom>
        </p:spPr>
        <p:txBody>
          <a:bodyPr lIns="0" tIns="0" rIns="0" bIns="0" rtlCol="0" anchor="t">
            <a:spAutoFit/>
          </a:bodyPr>
          <a:lstStyle/>
          <a:p>
            <a:pPr algn="r">
              <a:lnSpc>
                <a:spcPts val="2455"/>
              </a:lnSpc>
            </a:pPr>
            <a:r>
              <a:rPr lang="en-US" sz="2600" b="1" spc="96">
                <a:solidFill>
                  <a:srgbClr val="000054"/>
                </a:solidFill>
                <a:latin typeface="Aptos Bold" panose="020B0004020202020204"/>
                <a:ea typeface="Aptos Bold" panose="020B0004020202020204"/>
                <a:cs typeface="Aptos Bold" panose="020B0004020202020204"/>
                <a:sym typeface="Aptos Bold" panose="020B0004020202020204"/>
              </a:rPr>
              <a:t>Diễn đàn Đổi mới sáng tạo Giáo dục Việt Nam với Trí tuệ nhân tạo </a:t>
            </a:r>
            <a:endParaRPr lang="en-US" sz="2600" b="1" spc="96">
              <a:solidFill>
                <a:srgbClr val="000054"/>
              </a:solidFill>
              <a:latin typeface="Aptos Bold" panose="020B0004020202020204"/>
              <a:ea typeface="Aptos Bold" panose="020B0004020202020204"/>
              <a:cs typeface="Aptos Bold" panose="020B0004020202020204"/>
              <a:sym typeface="Aptos Bold" panose="020B0004020202020204"/>
            </a:endParaRPr>
          </a:p>
        </p:txBody>
      </p:sp>
      <p:sp>
        <p:nvSpPr>
          <p:cNvPr id="6" name="Freeform 6"/>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1"/>
            <a:stretch>
              <a:fillRect t="-652385"/>
            </a:stretch>
          </a:blipFill>
        </p:spPr>
        <p:txBody>
          <a:bodyPr/>
          <a:lstStyle/>
          <a:p>
            <a:endParaRPr lang="en-AU"/>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92"/>
            <a:ext cx="7606673" cy="810962"/>
          </a:xfrm>
          <a:prstGeom prst="rect">
            <a:avLst/>
          </a:prstGeom>
        </p:spPr>
        <p:txBody>
          <a:bodyPr lIns="0" tIns="0" rIns="0" bIns="0" rtlCol="0" anchor="t">
            <a:spAutoFit/>
          </a:bodyPr>
          <a:lstStyle/>
          <a:p>
            <a:pPr marL="0" lvl="0" indent="0" algn="l">
              <a:lnSpc>
                <a:spcPts val="6860"/>
              </a:lnSpc>
              <a:spcBef>
                <a:spcPct val="0"/>
              </a:spcBef>
            </a:pPr>
            <a:r>
              <a:rPr lang="en-US" sz="4475" b="1" spc="-223">
                <a:solidFill>
                  <a:srgbClr val="000054"/>
                </a:solidFill>
                <a:latin typeface="Aptos Bold" panose="020B0004020202020204"/>
                <a:ea typeface="Aptos Bold" panose="020B0004020202020204"/>
                <a:cs typeface="Aptos Bold" panose="020B0004020202020204"/>
                <a:sym typeface="Aptos Bold" panose="020B0004020202020204"/>
              </a:rPr>
              <a:t>THẢO LUẬN VÀ TỔNG KẾT</a:t>
            </a:r>
            <a:endParaRPr lang="en-US" sz="4475" b="1" spc="-223">
              <a:solidFill>
                <a:srgbClr val="000054"/>
              </a:solidFill>
              <a:latin typeface="Aptos Bold" panose="020B0004020202020204"/>
              <a:ea typeface="Aptos Bold" panose="020B0004020202020204"/>
              <a:cs typeface="Aptos Bold" panose="020B0004020202020204"/>
              <a:sym typeface="Aptos Bold" panose="020B0004020202020204"/>
            </a:endParaRPr>
          </a:p>
        </p:txBody>
      </p:sp>
      <p:sp>
        <p:nvSpPr>
          <p:cNvPr id="3" name="TextBox 3"/>
          <p:cNvSpPr txBox="1"/>
          <p:nvPr/>
        </p:nvSpPr>
        <p:spPr>
          <a:xfrm>
            <a:off x="714375" y="1940442"/>
            <a:ext cx="16868775" cy="6800000"/>
          </a:xfrm>
          <a:prstGeom prst="rect">
            <a:avLst/>
          </a:prstGeom>
        </p:spPr>
        <p:txBody>
          <a:bodyPr lIns="0" tIns="0" rIns="0" bIns="0" rtlCol="0" anchor="t">
            <a:spAutoFit/>
          </a:bodyPr>
          <a:lstStyle/>
          <a:p>
            <a:pPr marL="653415" lvl="1" indent="-327025" algn="l">
              <a:lnSpc>
                <a:spcPts val="3500"/>
              </a:lnSpc>
              <a:spcBef>
                <a:spcPts val="550"/>
              </a:spcBef>
              <a:buFont typeface="Arial" panose="020B0604020202020204"/>
              <a:buChar char="•"/>
            </a:pPr>
            <a:r>
              <a:rPr lang="vi-VN" sz="2350" b="1">
                <a:solidFill>
                  <a:srgbClr val="000054"/>
                </a:solidFill>
                <a:latin typeface="Aptos Bold" panose="020B0004020202020204"/>
                <a:ea typeface="Aptos Bold" panose="020B0004020202020204"/>
                <a:cs typeface="Aptos Bold" panose="020B0004020202020204"/>
                <a:sym typeface="Aptos Bold" panose="020B0004020202020204"/>
              </a:rPr>
              <a:t>So sánh ưu điểm vượt trội so với giải pháp truyền thống:</a:t>
            </a:r>
            <a:endParaRPr lang="vi-VN" sz="2350" b="1">
              <a:solidFill>
                <a:srgbClr val="000054"/>
              </a:solidFill>
              <a:latin typeface="Aptos Bold" panose="020B0004020202020204"/>
              <a:ea typeface="Aptos Bold" panose="020B0004020202020204"/>
              <a:cs typeface="Aptos Bold" panose="020B0004020202020204"/>
              <a:sym typeface="Aptos Bold" panose="020B0004020202020204"/>
            </a:endParaRPr>
          </a:p>
          <a:p>
            <a:pPr marL="1306830" lvl="2" indent="-435610" algn="l">
              <a:lnSpc>
                <a:spcPts val="3250"/>
              </a:lnSpc>
              <a:spcBef>
                <a:spcPts val="250"/>
              </a:spcBef>
              <a:buFont typeface="Arial" panose="020B0604020202020204"/>
              <a:buChar char="◦"/>
            </a:pPr>
            <a:r>
              <a:rPr lang="vi-VN" sz="2150" b="1">
                <a:solidFill>
                  <a:srgbClr val="000054"/>
                </a:solidFill>
                <a:latin typeface="Aptos Bold" panose="020B0004020202020204"/>
                <a:ea typeface="Aptos Bold" panose="020B0004020202020204"/>
                <a:cs typeface="Aptos Bold" panose="020B0004020202020204"/>
                <a:sym typeface="Aptos Bold" panose="020B0004020202020204"/>
              </a:rPr>
              <a:t>Thay thế việc dùng rời rạc nhiều công cụ (PowerPoint, Word, Canva) bằng một Web Studio hợp nhất:</a:t>
            </a:r>
            <a:r>
              <a:rPr lang="vi-VN" sz="2150">
                <a:solidFill>
                  <a:srgbClr val="000054"/>
                </a:solidFill>
                <a:latin typeface="Aptos"/>
                <a:ea typeface="Aptos"/>
                <a:cs typeface="Aptos"/>
                <a:sym typeface="Aptos"/>
              </a:rPr>
              <a:t> Thiết kế thẻ câu hỏi, Trình chiếu tương tác, Chơi game lật thẻ và Soạn Giáo án A4 ngay trên cùng một giao diện.</a:t>
            </a:r>
            <a:endParaRPr lang="vi-VN" sz="2150">
              <a:solidFill>
                <a:srgbClr val="000054"/>
              </a:solidFill>
              <a:latin typeface="Aptos"/>
              <a:ea typeface="Aptos"/>
              <a:cs typeface="Aptos"/>
              <a:sym typeface="Aptos"/>
            </a:endParaRPr>
          </a:p>
          <a:p>
            <a:pPr marL="653415" lvl="1" indent="-327025" algn="l">
              <a:lnSpc>
                <a:spcPts val="3500"/>
              </a:lnSpc>
              <a:spcBef>
                <a:spcPts val="550"/>
              </a:spcBef>
              <a:buFont typeface="Arial" panose="020B0604020202020204"/>
              <a:buChar char="•"/>
            </a:pPr>
            <a:r>
              <a:rPr lang="vi-VN" sz="2350" b="1">
                <a:solidFill>
                  <a:srgbClr val="000054"/>
                </a:solidFill>
                <a:latin typeface="Aptos Bold" panose="020B0004020202020204"/>
                <a:ea typeface="Aptos Bold" panose="020B0004020202020204"/>
                <a:cs typeface="Aptos Bold" panose="020B0004020202020204"/>
                <a:sym typeface="Aptos Bold" panose="020B0004020202020204"/>
              </a:rPr>
              <a:t>Tính bền vững &amp; Khả năng nhân rộng mô hình:</a:t>
            </a:r>
            <a:endParaRPr lang="vi-VN" sz="2350" b="1">
              <a:solidFill>
                <a:srgbClr val="000054"/>
              </a:solidFill>
              <a:latin typeface="Aptos Bold" panose="020B0004020202020204"/>
              <a:ea typeface="Aptos Bold" panose="020B0004020202020204"/>
              <a:cs typeface="Aptos Bold" panose="020B0004020202020204"/>
              <a:sym typeface="Aptos Bold" panose="020B0004020202020204"/>
            </a:endParaRPr>
          </a:p>
          <a:p>
            <a:pPr marL="1306830" lvl="2" indent="-435610" algn="l">
              <a:lnSpc>
                <a:spcPts val="3250"/>
              </a:lnSpc>
              <a:spcBef>
                <a:spcPts val="250"/>
              </a:spcBef>
              <a:buFont typeface="Arial" panose="020B0604020202020204"/>
              <a:buChar char="◦"/>
            </a:pPr>
            <a:r>
              <a:rPr lang="vi-VN" sz="2150">
                <a:solidFill>
                  <a:srgbClr val="000054"/>
                </a:solidFill>
                <a:latin typeface="Aptos"/>
                <a:ea typeface="Aptos"/>
                <a:cs typeface="Aptos"/>
                <a:sym typeface="Aptos"/>
              </a:rPr>
              <a:t>Chi phí vận hành bằng 0 (miễn phí 100% trên Netlify, lưu dữ liệu cục bộ bằng IndexedDB an toàn, hoạt động mượt mà cả Online lẫn Offline không cần cài đặt phần mềm).</a:t>
            </a:r>
            <a:endParaRPr lang="vi-VN" sz="2150">
              <a:solidFill>
                <a:srgbClr val="000054"/>
              </a:solidFill>
              <a:latin typeface="Aptos"/>
              <a:ea typeface="Aptos"/>
              <a:cs typeface="Aptos"/>
              <a:sym typeface="Aptos"/>
            </a:endParaRPr>
          </a:p>
          <a:p>
            <a:pPr marL="1306830" lvl="2" indent="-435610" algn="l">
              <a:lnSpc>
                <a:spcPts val="3250"/>
              </a:lnSpc>
              <a:spcBef>
                <a:spcPts val="250"/>
              </a:spcBef>
              <a:buFont typeface="Arial" panose="020B0604020202020204"/>
              <a:buChar char="◦"/>
            </a:pPr>
            <a:r>
              <a:rPr lang="vi-VN" sz="2150" b="1">
                <a:solidFill>
                  <a:srgbClr val="000054"/>
                </a:solidFill>
                <a:latin typeface="Aptos Bold" panose="020B0004020202020204"/>
                <a:ea typeface="Aptos Bold" panose="020B0004020202020204"/>
                <a:cs typeface="Aptos Bold" panose="020B0004020202020204"/>
                <a:sym typeface="Aptos Bold" panose="020B0004020202020204"/>
              </a:rPr>
              <a:t>Dễ dàng nhân rộng cho mọi trường Mầm non và Tiểu học trên toàn quốc:</a:t>
            </a:r>
            <a:r>
              <a:rPr lang="vi-VN" sz="2150">
                <a:solidFill>
                  <a:srgbClr val="000054"/>
                </a:solidFill>
                <a:latin typeface="Aptos"/>
                <a:ea typeface="Aptos"/>
                <a:cs typeface="Aptos"/>
                <a:sym typeface="Aptos"/>
              </a:rPr>
              <a:t> Giáo viên chỉ cần thay đổi ảnh tải lên và câu hỏi là có thể áp dụng cho mọi chủ đề (Chữ cái, Toán, Tiếng Anh, Kỹ năng sống, Văn hóa địa phương).</a:t>
            </a:r>
            <a:endParaRPr lang="vi-VN" sz="2150">
              <a:solidFill>
                <a:srgbClr val="000054"/>
              </a:solidFill>
              <a:latin typeface="Aptos"/>
              <a:ea typeface="Aptos"/>
              <a:cs typeface="Aptos"/>
              <a:sym typeface="Aptos"/>
            </a:endParaRPr>
          </a:p>
          <a:p>
            <a:pPr marL="653415" lvl="1" indent="-327025" algn="l">
              <a:lnSpc>
                <a:spcPts val="3500"/>
              </a:lnSpc>
              <a:spcBef>
                <a:spcPts val="550"/>
              </a:spcBef>
              <a:buFont typeface="Arial" panose="020B0604020202020204"/>
              <a:buChar char="•"/>
            </a:pPr>
            <a:r>
              <a:rPr lang="vi-VN" sz="2350" b="1">
                <a:solidFill>
                  <a:srgbClr val="000054"/>
                </a:solidFill>
                <a:latin typeface="Aptos Bold" panose="020B0004020202020204"/>
                <a:ea typeface="Aptos Bold" panose="020B0004020202020204"/>
                <a:cs typeface="Aptos Bold" panose="020B0004020202020204"/>
                <a:sym typeface="Aptos Bold" panose="020B0004020202020204"/>
              </a:rPr>
              <a:t>Định hướng phát triển trong tương lai:</a:t>
            </a:r>
            <a:endParaRPr lang="vi-VN" sz="2350" b="1">
              <a:solidFill>
                <a:srgbClr val="000054"/>
              </a:solidFill>
              <a:latin typeface="Aptos Bold" panose="020B0004020202020204"/>
              <a:ea typeface="Aptos Bold" panose="020B0004020202020204"/>
              <a:cs typeface="Aptos Bold" panose="020B0004020202020204"/>
              <a:sym typeface="Aptos Bold" panose="020B0004020202020204"/>
            </a:endParaRPr>
          </a:p>
          <a:p>
            <a:pPr marL="1306830" lvl="2" indent="-435610" algn="l">
              <a:lnSpc>
                <a:spcPts val="3250"/>
              </a:lnSpc>
              <a:spcBef>
                <a:spcPts val="250"/>
              </a:spcBef>
              <a:buFont typeface="Arial" panose="020B0604020202020204"/>
              <a:buChar char="◦"/>
            </a:pPr>
            <a:r>
              <a:rPr lang="vi-VN" sz="2150">
                <a:solidFill>
                  <a:srgbClr val="000054"/>
                </a:solidFill>
                <a:latin typeface="Aptos"/>
                <a:ea typeface="Aptos"/>
                <a:cs typeface="Aptos"/>
                <a:sym typeface="Aptos"/>
              </a:rPr>
              <a:t>Tích hợp trực tiếp API AI tạo câu đố và hình minh họa tự động theo chủ đề nhập vào; xây dựng thư viện học liệu mở liên trường và bổ sung báo cáo đánh giá sự tiến bộ nhận thức của từng trẻ.</a:t>
            </a:r>
            <a:endParaRPr lang="vi-VN" sz="2150">
              <a:solidFill>
                <a:srgbClr val="000054"/>
              </a:solidFill>
              <a:latin typeface="Aptos"/>
              <a:ea typeface="Aptos"/>
              <a:cs typeface="Aptos"/>
              <a:sym typeface="Aptos"/>
            </a:endParaRP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TextBox 5"/>
          <p:cNvSpPr txBox="1"/>
          <p:nvPr/>
        </p:nvSpPr>
        <p:spPr>
          <a:xfrm>
            <a:off x="714375" y="9505950"/>
            <a:ext cx="10426219" cy="322656"/>
          </a:xfrm>
          <a:prstGeom prst="rect">
            <a:avLst/>
          </a:prstGeom>
        </p:spPr>
        <p:txBody>
          <a:bodyPr lIns="0" tIns="0" rIns="0" bIns="0" rtlCol="0" anchor="t">
            <a:spAutoFit/>
          </a:bodyPr>
          <a:lstStyle/>
          <a:p>
            <a:pPr algn="r">
              <a:lnSpc>
                <a:spcPts val="2455"/>
              </a:lnSpc>
            </a:pPr>
            <a:r>
              <a:rPr lang="en-US" sz="2600" b="1" spc="96">
                <a:solidFill>
                  <a:srgbClr val="000054"/>
                </a:solidFill>
                <a:latin typeface="Aptos Bold" panose="020B0004020202020204"/>
                <a:ea typeface="Aptos Bold" panose="020B0004020202020204"/>
                <a:cs typeface="Aptos Bold" panose="020B0004020202020204"/>
                <a:sym typeface="Aptos Bold" panose="020B0004020202020204"/>
              </a:rPr>
              <a:t>Diễn đàn Đổi mới sáng tạo Giáo dục Việt Nam với Trí tuệ nhân tạo </a:t>
            </a:r>
            <a:endParaRPr lang="en-US" sz="2600" b="1" spc="96">
              <a:solidFill>
                <a:srgbClr val="000054"/>
              </a:solidFill>
              <a:latin typeface="Aptos Bold" panose="020B0004020202020204"/>
              <a:ea typeface="Aptos Bold" panose="020B0004020202020204"/>
              <a:cs typeface="Aptos Bold" panose="020B0004020202020204"/>
              <a:sym typeface="Aptos Bold" panose="020B0004020202020204"/>
            </a:endParaRPr>
          </a:p>
        </p:txBody>
      </p:sp>
      <p:sp>
        <p:nvSpPr>
          <p:cNvPr id="6" name="Freeform 6"/>
          <p:cNvSpPr/>
          <p:nvPr/>
        </p:nvSpPr>
        <p:spPr>
          <a:xfrm>
            <a:off x="0" y="8852107"/>
            <a:ext cx="18288000" cy="1434893"/>
          </a:xfrm>
          <a:custGeom>
            <a:avLst/>
            <a:gdLst/>
            <a:ahLst/>
            <a:cxnLst/>
            <a:rect l="l" t="t" r="r" b="b"/>
            <a:pathLst>
              <a:path w="18288000" h="1434893">
                <a:moveTo>
                  <a:pt x="0" y="0"/>
                </a:moveTo>
                <a:lnTo>
                  <a:pt x="18288000" y="0"/>
                </a:lnTo>
                <a:lnTo>
                  <a:pt x="18288000" y="1434893"/>
                </a:lnTo>
                <a:lnTo>
                  <a:pt x="0" y="1434893"/>
                </a:lnTo>
                <a:lnTo>
                  <a:pt x="0" y="0"/>
                </a:lnTo>
                <a:close/>
              </a:path>
            </a:pathLst>
          </a:custGeom>
          <a:blipFill>
            <a:blip r:embed="rId1"/>
            <a:stretch>
              <a:fillRect t="-616917"/>
            </a:stretch>
          </a:blipFill>
        </p:spPr>
        <p:txBody>
          <a:bodyPr/>
          <a:lstStyle/>
          <a:p>
            <a:endParaRPr lang="en-AU"/>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82811" y="1005632"/>
            <a:ext cx="14847484" cy="810962"/>
          </a:xfrm>
          <a:prstGeom prst="rect">
            <a:avLst/>
          </a:prstGeom>
        </p:spPr>
        <p:txBody>
          <a:bodyPr lIns="0" tIns="0" rIns="0" bIns="0" rtlCol="0" anchor="t">
            <a:spAutoFit/>
          </a:bodyPr>
          <a:lstStyle/>
          <a:p>
            <a:pPr marL="0" lvl="0" indent="0" algn="l">
              <a:lnSpc>
                <a:spcPts val="6860"/>
              </a:lnSpc>
              <a:spcBef>
                <a:spcPct val="0"/>
              </a:spcBef>
            </a:pPr>
            <a:r>
              <a:rPr lang="en-US" sz="4475" b="1" spc="-223">
                <a:solidFill>
                  <a:srgbClr val="000054"/>
                </a:solidFill>
                <a:latin typeface="Aptos Bold" panose="020B0004020202020204"/>
                <a:ea typeface="Aptos Bold" panose="020B0004020202020204"/>
                <a:cs typeface="Aptos Bold" panose="020B0004020202020204"/>
                <a:sym typeface="Aptos Bold" panose="020B0004020202020204"/>
              </a:rPr>
              <a:t>TÀI LIỆU/THÔNG TIN ĐÍNH KÈM (NẾU CÓ)</a:t>
            </a:r>
            <a:endParaRPr lang="en-US" sz="4475" b="1" spc="-223">
              <a:solidFill>
                <a:srgbClr val="000054"/>
              </a:solidFill>
              <a:latin typeface="Aptos Bold" panose="020B0004020202020204"/>
              <a:ea typeface="Aptos Bold" panose="020B0004020202020204"/>
              <a:cs typeface="Aptos Bold" panose="020B0004020202020204"/>
              <a:sym typeface="Aptos Bold" panose="020B0004020202020204"/>
            </a:endParaRPr>
          </a:p>
        </p:txBody>
      </p:sp>
      <p:sp>
        <p:nvSpPr>
          <p:cNvPr id="3" name="TextBox 3"/>
          <p:cNvSpPr txBox="1"/>
          <p:nvPr/>
        </p:nvSpPr>
        <p:spPr>
          <a:xfrm>
            <a:off x="714375" y="2027149"/>
            <a:ext cx="16868775" cy="6650000"/>
          </a:xfrm>
          <a:prstGeom prst="rect">
            <a:avLst/>
          </a:prstGeom>
        </p:spPr>
        <p:txBody>
          <a:bodyPr lIns="0" tIns="0" rIns="0" bIns="0" rtlCol="0" anchor="t">
            <a:spAutoFit/>
          </a:bodyPr>
          <a:lstStyle/>
          <a:p>
            <a:pPr marL="653415" lvl="1" indent="-327025" algn="l">
              <a:lnSpc>
                <a:spcPts val="3500"/>
              </a:lnSpc>
              <a:spcBef>
                <a:spcPts val="550"/>
              </a:spcBef>
              <a:buFont typeface="Arial" panose="020B0604020202020204"/>
              <a:buChar char="•"/>
            </a:pPr>
            <a:r>
              <a:rPr lang="vi-VN" sz="2350" b="1">
                <a:solidFill>
                  <a:srgbClr val="000054"/>
                </a:solidFill>
                <a:latin typeface="Aptos Bold" panose="020B0004020202020204"/>
                <a:ea typeface="Aptos Bold" panose="020B0004020202020204"/>
                <a:cs typeface="Aptos Bold" panose="020B0004020202020204"/>
                <a:sym typeface="Aptos Bold" panose="020B0004020202020204"/>
              </a:rPr>
              <a:t>Hệ thống đường dẫn &amp; Tài liệu đính kèm của dự án:</a:t>
            </a:r>
            <a:endParaRPr lang="vi-VN" sz="2350" b="1">
              <a:solidFill>
                <a:srgbClr val="000054"/>
              </a:solidFill>
              <a:latin typeface="Aptos Bold" panose="020B0004020202020204"/>
              <a:ea typeface="Aptos Bold" panose="020B0004020202020204"/>
              <a:cs typeface="Aptos Bold" panose="020B0004020202020204"/>
              <a:sym typeface="Aptos Bold" panose="020B0004020202020204"/>
            </a:endParaRPr>
          </a:p>
          <a:p>
            <a:pPr marL="1306830" lvl="2" indent="-435610" algn="l">
              <a:lnSpc>
                <a:spcPts val="3250"/>
              </a:lnSpc>
              <a:spcBef>
                <a:spcPts val="250"/>
              </a:spcBef>
              <a:buFont typeface="Arial" panose="020B0604020202020204"/>
              <a:buChar char="◦"/>
            </a:pPr>
            <a:r>
              <a:rPr lang="vi-VN" sz="2200" b="1">
                <a:solidFill>
                  <a:srgbClr val="000054"/>
                </a:solidFill>
                <a:latin typeface="Aptos Bold" panose="020B0004020202020204"/>
                <a:ea typeface="Aptos Bold" panose="020B0004020202020204"/>
                <a:cs typeface="Aptos Bold" panose="020B0004020202020204"/>
                <a:sym typeface="Aptos Bold" panose="020B0004020202020204"/>
              </a:rPr>
              <a:t>1. Ứng dụng Web triển khai thực tế trên Netlify:</a:t>
            </a:r>
            <a:r>
              <a:rPr lang="vi-VN" sz="2200">
                <a:solidFill>
                  <a:srgbClr val="000054"/>
                </a:solidFill>
                <a:latin typeface="Aptos"/>
                <a:ea typeface="Aptos"/>
                <a:cs typeface="Aptos"/>
                <a:sym typeface="Aptos"/>
              </a:rPr>
              <a:t> Hỗ trợ truy cập công khai trên Máy tính, TV thông minh lớp học, Máy tính bảng và Điện thoại.</a:t>
            </a:r>
            <a:endParaRPr lang="vi-VN" sz="2200">
              <a:solidFill>
                <a:srgbClr val="000054"/>
              </a:solidFill>
              <a:latin typeface="Aptos"/>
              <a:ea typeface="Aptos"/>
              <a:cs typeface="Aptos"/>
              <a:sym typeface="Aptos"/>
            </a:endParaRPr>
          </a:p>
          <a:p>
            <a:pPr marL="1306830" lvl="2" indent="-435610" algn="l">
              <a:lnSpc>
                <a:spcPts val="3250"/>
              </a:lnSpc>
              <a:spcBef>
                <a:spcPts val="250"/>
              </a:spcBef>
              <a:buFont typeface="Arial" panose="020B0604020202020204"/>
              <a:buChar char="◦"/>
            </a:pPr>
            <a:r>
              <a:rPr lang="vi-VN" sz="2200" b="1">
                <a:solidFill>
                  <a:srgbClr val="000054"/>
                </a:solidFill>
                <a:latin typeface="Aptos Bold" panose="020B0004020202020204"/>
                <a:ea typeface="Aptos Bold" panose="020B0004020202020204"/>
                <a:cs typeface="Aptos Bold" panose="020B0004020202020204"/>
                <a:sym typeface="Aptos Bold" panose="020B0004020202020204"/>
              </a:rPr>
              <a:t>2. Bộ mã nguồn đóng gói độc lập (index.html, app.js, animal-data.js, styles.css):</a:t>
            </a:r>
            <a:r>
              <a:rPr lang="vi-VN" sz="2200">
                <a:solidFill>
                  <a:srgbClr val="000054"/>
                </a:solidFill>
                <a:latin typeface="Aptos"/>
                <a:ea typeface="Aptos"/>
                <a:cs typeface="Aptos"/>
                <a:sym typeface="Aptos"/>
              </a:rPr>
              <a:t> Tích hợp toàn bộ CSS/JS chuẩn hóa, hỗ trợ mở trực tiếp chạy Offline 100% không cần Internet.</a:t>
            </a:r>
            <a:endParaRPr lang="vi-VN" sz="2200">
              <a:solidFill>
                <a:srgbClr val="000054"/>
              </a:solidFill>
              <a:latin typeface="Aptos"/>
              <a:ea typeface="Aptos"/>
              <a:cs typeface="Aptos"/>
              <a:sym typeface="Aptos"/>
            </a:endParaRPr>
          </a:p>
          <a:p>
            <a:pPr marL="1306830" lvl="2" indent="-435610" algn="l">
              <a:lnSpc>
                <a:spcPts val="3250"/>
              </a:lnSpc>
              <a:spcBef>
                <a:spcPts val="250"/>
              </a:spcBef>
              <a:buFont typeface="Arial" panose="020B0604020202020204"/>
              <a:buChar char="◦"/>
            </a:pPr>
            <a:r>
              <a:rPr lang="vi-VN" sz="2200" b="1">
                <a:solidFill>
                  <a:srgbClr val="000054"/>
                </a:solidFill>
                <a:latin typeface="Aptos Bold" panose="020B0004020202020204"/>
                <a:ea typeface="Aptos Bold" panose="020B0004020202020204"/>
                <a:cs typeface="Aptos Bold" panose="020B0004020202020204"/>
                <a:sym typeface="Aptos Bold" panose="020B0004020202020204"/>
              </a:rPr>
              <a:t>3. Kho học liệu tích hợp sẵn trong ứng dụng:</a:t>
            </a:r>
            <a:r>
              <a:rPr lang="vi-VN" sz="2200">
                <a:solidFill>
                  <a:srgbClr val="000054"/>
                </a:solidFill>
                <a:latin typeface="Aptos"/>
                <a:ea typeface="Aptos"/>
                <a:cs typeface="Aptos"/>
                <a:sym typeface="Aptos"/>
              </a:rPr>
              <a:t> 38 thẻ đồ họa con vật, bộ câu hỏi theo 3 độ tuổi (3–4, 4–5, 5–6 tuổi) và 18 Mẫu Giáo án A4 chuẩn 5E &amp; STEAM theo 9 chủ đề mầm non.</a:t>
            </a:r>
            <a:endParaRPr lang="vi-VN" sz="2200">
              <a:solidFill>
                <a:srgbClr val="000054"/>
              </a:solidFill>
              <a:latin typeface="Aptos"/>
              <a:ea typeface="Aptos"/>
              <a:cs typeface="Aptos"/>
              <a:sym typeface="Aptos"/>
            </a:endParaRPr>
          </a:p>
          <a:p>
            <a:pPr marL="653415" lvl="1" indent="-327025" algn="l">
              <a:lnSpc>
                <a:spcPts val="3500"/>
              </a:lnSpc>
              <a:spcBef>
                <a:spcPts val="550"/>
              </a:spcBef>
              <a:buFont typeface="Arial" panose="020B0604020202020204"/>
              <a:buChar char="•"/>
            </a:pPr>
            <a:r>
              <a:rPr lang="vi-VN" sz="2350" b="1">
                <a:solidFill>
                  <a:srgbClr val="000054"/>
                </a:solidFill>
                <a:latin typeface="Aptos Bold" panose="020B0004020202020204"/>
                <a:ea typeface="Aptos Bold" panose="020B0004020202020204"/>
                <a:cs typeface="Aptos Bold" panose="020B0004020202020204"/>
                <a:sym typeface="Aptos Bold" panose="020B0004020202020204"/>
              </a:rPr>
              <a:t>Hướng dẫn trải nghiệm nhanh dành cho Ban Giám Khảo:</a:t>
            </a:r>
            <a:endParaRPr lang="vi-VN" sz="2350" b="1">
              <a:solidFill>
                <a:srgbClr val="000054"/>
              </a:solidFill>
              <a:latin typeface="Aptos Bold" panose="020B0004020202020204"/>
              <a:ea typeface="Aptos Bold" panose="020B0004020202020204"/>
              <a:cs typeface="Aptos Bold" panose="020B0004020202020204"/>
              <a:sym typeface="Aptos Bold" panose="020B0004020202020204"/>
            </a:endParaRPr>
          </a:p>
          <a:p>
            <a:pPr marL="1306830" lvl="2" indent="-435610" algn="l">
              <a:lnSpc>
                <a:spcPts val="3250"/>
              </a:lnSpc>
              <a:spcBef>
                <a:spcPts val="250"/>
              </a:spcBef>
              <a:buFont typeface="Arial" panose="020B0604020202020204"/>
              <a:buChar char="◦"/>
            </a:pPr>
            <a:r>
              <a:rPr lang="vi-VN" sz="2200" b="1">
                <a:solidFill>
                  <a:srgbClr val="000054"/>
                </a:solidFill>
                <a:latin typeface="Aptos Bold" panose="020B0004020202020204"/>
                <a:ea typeface="Aptos Bold" panose="020B0004020202020204"/>
                <a:cs typeface="Aptos Bold" panose="020B0004020202020204"/>
                <a:sym typeface="Aptos Bold" panose="020B0004020202020204"/>
              </a:rPr>
              <a:t>Truy cập ứng dụng -&gt; Thử nghiệm 4 phân hệ trên thanh công cụ:</a:t>
            </a:r>
            <a:r>
              <a:rPr lang="vi-VN" sz="2200">
                <a:solidFill>
                  <a:srgbClr val="000054"/>
                </a:solidFill>
                <a:latin typeface="Aptos"/>
                <a:ea typeface="Aptos"/>
                <a:cs typeface="Aptos"/>
                <a:sym typeface="Aptos"/>
              </a:rPr>
              <a:t> (1) Thiết kế thẻ câu hỏi &amp; Tải ảnh lên; (2) Bé Chơi Đố Vui / Trình Chiếu TV (+35% hiển thị); (3) Lật Ảnh Con Vật; (4) Giáo Án A4 &amp; Xuất Word/PDF/HTML.</a:t>
            </a:r>
            <a:endParaRPr lang="vi-VN" sz="2200">
              <a:solidFill>
                <a:srgbClr val="000054"/>
              </a:solidFill>
              <a:latin typeface="Aptos"/>
              <a:ea typeface="Aptos"/>
              <a:cs typeface="Aptos"/>
              <a:sym typeface="Aptos"/>
            </a:endParaRPr>
          </a:p>
        </p:txBody>
      </p:sp>
      <p:sp>
        <p:nvSpPr>
          <p:cNvPr id="4" name="AutoShape 4"/>
          <p:cNvSpPr/>
          <p:nvPr/>
        </p:nvSpPr>
        <p:spPr>
          <a:xfrm flipV="1">
            <a:off x="714375" y="9182100"/>
            <a:ext cx="16868775" cy="0"/>
          </a:xfrm>
          <a:prstGeom prst="line">
            <a:avLst/>
          </a:prstGeom>
          <a:ln w="38100" cap="flat">
            <a:solidFill>
              <a:srgbClr val="E61E2A"/>
            </a:solidFill>
            <a:prstDash val="solid"/>
            <a:headEnd type="none" w="sm" len="sm"/>
            <a:tailEnd type="none" w="sm" len="sm"/>
          </a:ln>
        </p:spPr>
        <p:txBody>
          <a:bodyPr/>
          <a:lstStyle/>
          <a:p>
            <a:endParaRPr lang="en-AU"/>
          </a:p>
        </p:txBody>
      </p:sp>
      <p:sp>
        <p:nvSpPr>
          <p:cNvPr id="5" name="Freeform 5"/>
          <p:cNvSpPr/>
          <p:nvPr/>
        </p:nvSpPr>
        <p:spPr>
          <a:xfrm>
            <a:off x="0" y="8919749"/>
            <a:ext cx="18288000" cy="1367251"/>
          </a:xfrm>
          <a:custGeom>
            <a:avLst/>
            <a:gdLst/>
            <a:ahLst/>
            <a:cxnLst/>
            <a:rect l="l" t="t" r="r" b="b"/>
            <a:pathLst>
              <a:path w="18288000" h="1367251">
                <a:moveTo>
                  <a:pt x="0" y="0"/>
                </a:moveTo>
                <a:lnTo>
                  <a:pt x="18288000" y="0"/>
                </a:lnTo>
                <a:lnTo>
                  <a:pt x="18288000" y="1367251"/>
                </a:lnTo>
                <a:lnTo>
                  <a:pt x="0" y="1367251"/>
                </a:lnTo>
                <a:lnTo>
                  <a:pt x="0" y="0"/>
                </a:lnTo>
                <a:close/>
              </a:path>
            </a:pathLst>
          </a:custGeom>
          <a:blipFill>
            <a:blip r:embed="rId1"/>
            <a:stretch>
              <a:fillRect t="-652385"/>
            </a:stretch>
          </a:blipFill>
        </p:spPr>
        <p:txBody>
          <a:bodyPr/>
          <a:lstStyle/>
          <a:p>
            <a:endParaRPr lang="en-AU"/>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8078</Words>
  <Application>WPS Presentation</Application>
  <PresentationFormat>Custom</PresentationFormat>
  <Paragraphs>103</Paragraphs>
  <Slides>9</Slides>
  <Notes>8</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9</vt:i4>
      </vt:variant>
    </vt:vector>
  </HeadingPairs>
  <TitlesOfParts>
    <vt:vector size="22" baseType="lpstr">
      <vt:lpstr>Arial</vt:lpstr>
      <vt:lpstr>SimSun</vt:lpstr>
      <vt:lpstr>Wingdings</vt:lpstr>
      <vt:lpstr>Museo RMIT VN Bold</vt:lpstr>
      <vt:lpstr>Aptos Bold</vt:lpstr>
      <vt:lpstr>Aptos</vt:lpstr>
      <vt:lpstr>Segoe UI</vt:lpstr>
      <vt:lpstr>Arial</vt:lpstr>
      <vt:lpstr>Aptos Italics</vt:lpstr>
      <vt:lpstr>Calibri</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Slide_2026</dc:title>
  <dc:creator/>
  <cp:lastModifiedBy>Khôi Nhật</cp:lastModifiedBy>
  <cp:revision>3</cp:revision>
  <dcterms:created xsi:type="dcterms:W3CDTF">2006-08-16T00:00:00Z</dcterms:created>
  <dcterms:modified xsi:type="dcterms:W3CDTF">2026-10-27T02:05:33Z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359EDDF26CBD4BAC97A1A70939FBC405_12</vt:lpwstr>
  </property>
  <property fmtid="{D5CDD505-2E9C-101B-9397-08002B2CF9AE}" pid="3" name="KSOProductBuildVer">
    <vt:lpwstr>2057-12.2.0.23206</vt:lpwstr>
  </property>
</Properties>
</file>